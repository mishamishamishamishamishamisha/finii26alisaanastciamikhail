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5"/>
  </p:notesMasterIdLst>
  <p:sldIdLst>
    <p:sldId id="267" r:id="rId2"/>
    <p:sldId id="279" r:id="rId3"/>
    <p:sldId id="303" r:id="rId4"/>
    <p:sldId id="322" r:id="rId5"/>
    <p:sldId id="314" r:id="rId6"/>
    <p:sldId id="323" r:id="rId7"/>
    <p:sldId id="324" r:id="rId8"/>
    <p:sldId id="317" r:id="rId9"/>
    <p:sldId id="318" r:id="rId10"/>
    <p:sldId id="319" r:id="rId11"/>
    <p:sldId id="325" r:id="rId12"/>
    <p:sldId id="320" r:id="rId13"/>
    <p:sldId id="326" r:id="rId14"/>
    <p:sldId id="321" r:id="rId15"/>
    <p:sldId id="328" r:id="rId16"/>
    <p:sldId id="329" r:id="rId17"/>
    <p:sldId id="330" r:id="rId18"/>
    <p:sldId id="327" r:id="rId19"/>
    <p:sldId id="332" r:id="rId20"/>
    <p:sldId id="331" r:id="rId21"/>
    <p:sldId id="334" r:id="rId22"/>
    <p:sldId id="336" r:id="rId23"/>
    <p:sldId id="276" r:id="rId2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257">
          <p15:clr>
            <a:srgbClr val="A4A3A4"/>
          </p15:clr>
        </p15:guide>
        <p15:guide id="3" orient="horz" pos="2984">
          <p15:clr>
            <a:srgbClr val="A4A3A4"/>
          </p15:clr>
        </p15:guide>
        <p15:guide id="4" pos="2880">
          <p15:clr>
            <a:srgbClr val="A4A3A4"/>
          </p15:clr>
        </p15:guide>
        <p15:guide id="5" pos="226">
          <p15:clr>
            <a:srgbClr val="A4A3A4"/>
          </p15:clr>
        </p15:guide>
        <p15:guide id="6" pos="553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eletkov" initials="i" lastIdx="1" clrIdx="0">
    <p:extLst>
      <p:ext uri="{19B8F6BF-5375-455C-9EA6-DF929625EA0E}">
        <p15:presenceInfo xmlns:p15="http://schemas.microsoft.com/office/powerpoint/2012/main" userId="iseletko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5AA6"/>
    <a:srgbClr val="910829"/>
    <a:srgbClr val="91088D"/>
    <a:srgbClr val="DF737D"/>
    <a:srgbClr val="FAECED"/>
    <a:srgbClr val="F5D4D7"/>
    <a:srgbClr val="C62E3E"/>
    <a:srgbClr val="00803B"/>
    <a:srgbClr val="32B82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-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Светлый стиль 3 -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21" autoAdjust="0"/>
  </p:normalViewPr>
  <p:slideViewPr>
    <p:cSldViewPr snapToGrid="0">
      <p:cViewPr>
        <p:scale>
          <a:sx n="75" d="100"/>
          <a:sy n="75" d="100"/>
        </p:scale>
        <p:origin x="2616" y="1368"/>
      </p:cViewPr>
      <p:guideLst>
        <p:guide orient="horz" pos="1620"/>
        <p:guide orient="horz" pos="257"/>
        <p:guide orient="horz" pos="2984"/>
        <p:guide pos="2880"/>
        <p:guide pos="226"/>
        <p:guide pos="55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FEF02-1F78-4345-B154-220A673D1341}" type="datetimeFigureOut">
              <a:rPr lang="ru-RU" smtClean="0"/>
              <a:pPr/>
              <a:t>30.04.2026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591286-B1AA-4FB5-8C57-7C62A39AC3D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939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9A0A948-0E58-456A-9A9F-E43CE300EE29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240631-CADB-43A9-88BC-2AAF6716247F}"/>
              </a:ext>
            </a:extLst>
          </p:cNvPr>
          <p:cNvSpPr/>
          <p:nvPr userDrawn="1"/>
        </p:nvSpPr>
        <p:spPr>
          <a:xfrm>
            <a:off x="7741267" y="171774"/>
            <a:ext cx="496566" cy="521168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86C339C-AF62-4081-A4E8-C295D71828B5}"/>
              </a:ext>
            </a:extLst>
          </p:cNvPr>
          <p:cNvSpPr/>
          <p:nvPr userDrawn="1"/>
        </p:nvSpPr>
        <p:spPr>
          <a:xfrm>
            <a:off x="8226879" y="-21035"/>
            <a:ext cx="917122" cy="962561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22C3F10-9288-435B-8B8A-0FE2BEBE66E5}"/>
              </a:ext>
            </a:extLst>
          </p:cNvPr>
          <p:cNvSpPr/>
          <p:nvPr userDrawn="1"/>
        </p:nvSpPr>
        <p:spPr>
          <a:xfrm>
            <a:off x="7929363" y="483115"/>
            <a:ext cx="715735" cy="7511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819352D-CE63-425E-B4F4-CB1F1AE9D94C}"/>
              </a:ext>
            </a:extLst>
          </p:cNvPr>
          <p:cNvSpPr/>
          <p:nvPr userDrawn="1"/>
        </p:nvSpPr>
        <p:spPr>
          <a:xfrm>
            <a:off x="8349343" y="3876850"/>
            <a:ext cx="794657" cy="834029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D72D1E2-7959-42EF-8B90-5059EC0DB368}"/>
              </a:ext>
            </a:extLst>
          </p:cNvPr>
          <p:cNvSpPr/>
          <p:nvPr userDrawn="1"/>
        </p:nvSpPr>
        <p:spPr>
          <a:xfrm>
            <a:off x="8575419" y="3485148"/>
            <a:ext cx="430259" cy="45157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C6591C5-C7FE-4966-A2ED-93A81E48DE6D}"/>
              </a:ext>
            </a:extLst>
          </p:cNvPr>
          <p:cNvSpPr/>
          <p:nvPr userDrawn="1"/>
        </p:nvSpPr>
        <p:spPr>
          <a:xfrm>
            <a:off x="8122999" y="4248515"/>
            <a:ext cx="744764" cy="781663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871CD6A-5531-4987-A1BB-915E9C0650AD}"/>
              </a:ext>
            </a:extLst>
          </p:cNvPr>
          <p:cNvSpPr/>
          <p:nvPr userDrawn="1"/>
        </p:nvSpPr>
        <p:spPr>
          <a:xfrm>
            <a:off x="7537051" y="2961162"/>
            <a:ext cx="446477" cy="468597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B7FD0CB-D89F-4E47-8173-B9DF467E82BA}"/>
              </a:ext>
            </a:extLst>
          </p:cNvPr>
          <p:cNvSpPr/>
          <p:nvPr userDrawn="1"/>
        </p:nvSpPr>
        <p:spPr>
          <a:xfrm>
            <a:off x="7845147" y="2815926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7561693-D563-4A9E-8DA5-B99E02B42C7E}"/>
              </a:ext>
            </a:extLst>
          </p:cNvPr>
          <p:cNvSpPr/>
          <p:nvPr userDrawn="1"/>
        </p:nvSpPr>
        <p:spPr>
          <a:xfrm>
            <a:off x="8469912" y="1885553"/>
            <a:ext cx="276760" cy="290472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3139166-990F-467B-A0B6-71712A2B51FD}"/>
              </a:ext>
            </a:extLst>
          </p:cNvPr>
          <p:cNvSpPr/>
          <p:nvPr userDrawn="1"/>
        </p:nvSpPr>
        <p:spPr>
          <a:xfrm>
            <a:off x="281354" y="4476791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191D033-DAE9-46DD-993D-7FCB3C3FB9D5}"/>
              </a:ext>
            </a:extLst>
          </p:cNvPr>
          <p:cNvSpPr/>
          <p:nvPr userDrawn="1"/>
        </p:nvSpPr>
        <p:spPr>
          <a:xfrm>
            <a:off x="-136279" y="4549867"/>
            <a:ext cx="496566" cy="521168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6A0A3BE-CAA8-468F-95ED-0B82589D21AE}"/>
              </a:ext>
            </a:extLst>
          </p:cNvPr>
          <p:cNvSpPr/>
          <p:nvPr userDrawn="1"/>
        </p:nvSpPr>
        <p:spPr>
          <a:xfrm>
            <a:off x="7925174" y="4570648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302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406838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50219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84298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788268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18916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09503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92210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367620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766870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37306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3398" y="393700"/>
            <a:ext cx="2738001" cy="153868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058521" y="1031479"/>
            <a:ext cx="3643313" cy="5536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4020423" y="2278063"/>
            <a:ext cx="5123578" cy="2427287"/>
          </a:xfrm>
          <a:noFill/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841533" y="2278063"/>
            <a:ext cx="2904967" cy="2427287"/>
          </a:xfrm>
          <a:noFill/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27001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713741" y="393700"/>
            <a:ext cx="430259" cy="45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230672" y="172322"/>
            <a:ext cx="210927" cy="221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55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0" y="273843"/>
            <a:ext cx="9144000" cy="994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/>
          </p:nvPr>
        </p:nvSpPr>
        <p:spPr>
          <a:xfrm>
            <a:off x="628650" y="1388746"/>
            <a:ext cx="7886700" cy="320587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35327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3"/>
          </p:nvPr>
        </p:nvSpPr>
        <p:spPr>
          <a:xfrm>
            <a:off x="0" y="741364"/>
            <a:ext cx="6457950" cy="2560637"/>
          </a:xfrm>
          <a:noFill/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5777349" y="1185664"/>
            <a:ext cx="2738001" cy="1538684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628650" y="3635971"/>
            <a:ext cx="2057400" cy="5536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idx="14"/>
          </p:nvPr>
        </p:nvSpPr>
        <p:spPr>
          <a:xfrm>
            <a:off x="3399040" y="3617428"/>
            <a:ext cx="2057400" cy="5536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idx="15"/>
          </p:nvPr>
        </p:nvSpPr>
        <p:spPr>
          <a:xfrm>
            <a:off x="6121666" y="3615902"/>
            <a:ext cx="2057400" cy="5536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7805" y="2382086"/>
            <a:ext cx="144260" cy="1514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258709" y="505950"/>
            <a:ext cx="430259" cy="45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4947970" y="163711"/>
            <a:ext cx="276760" cy="290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433868" y="2381832"/>
            <a:ext cx="144260" cy="1514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156494" y="2384075"/>
            <a:ext cx="144260" cy="1514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82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9733" y="1858566"/>
            <a:ext cx="3643313" cy="2139553"/>
          </a:xfrm>
        </p:spPr>
        <p:txBody>
          <a:bodyPr anchor="b"/>
          <a:lstStyle>
            <a:lvl1pPr>
              <a:lnSpc>
                <a:spcPct val="100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09733" y="4018360"/>
            <a:ext cx="3643313" cy="55364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6604000" y="0"/>
            <a:ext cx="2311400" cy="5143500"/>
          </a:xfrm>
          <a:noFill/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4216401" y="0"/>
            <a:ext cx="2298700" cy="5143500"/>
          </a:xfrm>
          <a:noFill/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2984973" y="224529"/>
            <a:ext cx="496566" cy="521168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466494" y="0"/>
            <a:ext cx="917122" cy="962561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3173069" y="535870"/>
            <a:ext cx="715735" cy="7511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8939744" y="4549256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522111" y="4622332"/>
            <a:ext cx="496566" cy="521168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193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628651" y="1686322"/>
            <a:ext cx="2901950" cy="1770857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3949699" y="596901"/>
            <a:ext cx="4470401" cy="1193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3949699" y="1974850"/>
            <a:ext cx="4470401" cy="1193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3949699" y="3352800"/>
            <a:ext cx="4470401" cy="1193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3949304" y="596503"/>
            <a:ext cx="1562100" cy="1194197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1"/>
          </p:nvPr>
        </p:nvSpPr>
        <p:spPr>
          <a:xfrm>
            <a:off x="3949304" y="1974453"/>
            <a:ext cx="1562100" cy="1194197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12" name="Рисунок 7"/>
          <p:cNvSpPr>
            <a:spLocks noGrp="1"/>
          </p:cNvSpPr>
          <p:nvPr>
            <p:ph type="pic" sz="quarter" idx="12"/>
          </p:nvPr>
        </p:nvSpPr>
        <p:spPr>
          <a:xfrm>
            <a:off x="3949304" y="3352600"/>
            <a:ext cx="1562100" cy="1194197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5695950" y="762142"/>
            <a:ext cx="2057400" cy="5536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3"/>
          </p:nvPr>
        </p:nvSpPr>
        <p:spPr>
          <a:xfrm>
            <a:off x="5695950" y="2126056"/>
            <a:ext cx="2057400" cy="5536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4"/>
          </p:nvPr>
        </p:nvSpPr>
        <p:spPr>
          <a:xfrm>
            <a:off x="5695950" y="3511608"/>
            <a:ext cx="2057400" cy="5536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8328445" y="4045848"/>
            <a:ext cx="794657" cy="834029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076434" y="4781331"/>
            <a:ext cx="430259" cy="45157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3228847" y="3352601"/>
            <a:ext cx="446477" cy="468597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3536943" y="3207364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7881967" y="266885"/>
            <a:ext cx="446477" cy="468597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204971" y="370914"/>
            <a:ext cx="430259" cy="45157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8724072" y="1009946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8732769" y="3740918"/>
            <a:ext cx="663241" cy="696101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94430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-183524" y="-183524"/>
            <a:ext cx="9504609" cy="5554015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37209" y="2096396"/>
            <a:ext cx="4463143" cy="994172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30318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28950" y="273844"/>
            <a:ext cx="5486400" cy="994172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28950" y="1369219"/>
            <a:ext cx="5486400" cy="326350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188687" y="0"/>
            <a:ext cx="2619828" cy="5143500"/>
          </a:xfrm>
          <a:noFill/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11335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28950" y="273844"/>
            <a:ext cx="5486400" cy="994172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28950" y="1480458"/>
            <a:ext cx="5486400" cy="43542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188687" y="0"/>
            <a:ext cx="2619828" cy="5143500"/>
          </a:xfrm>
          <a:noFill/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83223" y="4632722"/>
            <a:ext cx="305159" cy="3202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493846" y="4535601"/>
            <a:ext cx="185072" cy="1942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8195488" y="145426"/>
            <a:ext cx="390404" cy="4097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3028950" y="1915886"/>
            <a:ext cx="5486400" cy="43542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Объект 2"/>
          <p:cNvSpPr>
            <a:spLocks noGrp="1"/>
          </p:cNvSpPr>
          <p:nvPr>
            <p:ph idx="16"/>
          </p:nvPr>
        </p:nvSpPr>
        <p:spPr>
          <a:xfrm>
            <a:off x="3028950" y="2650672"/>
            <a:ext cx="5486400" cy="43542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7"/>
          </p:nvPr>
        </p:nvSpPr>
        <p:spPr>
          <a:xfrm>
            <a:off x="3028950" y="3086101"/>
            <a:ext cx="5486400" cy="43542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Объект 2"/>
          <p:cNvSpPr>
            <a:spLocks noGrp="1"/>
          </p:cNvSpPr>
          <p:nvPr>
            <p:ph idx="18"/>
          </p:nvPr>
        </p:nvSpPr>
        <p:spPr>
          <a:xfrm>
            <a:off x="3028950" y="3837214"/>
            <a:ext cx="5486400" cy="43542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Объект 2"/>
          <p:cNvSpPr>
            <a:spLocks noGrp="1"/>
          </p:cNvSpPr>
          <p:nvPr>
            <p:ph idx="19"/>
          </p:nvPr>
        </p:nvSpPr>
        <p:spPr>
          <a:xfrm>
            <a:off x="3028950" y="4272643"/>
            <a:ext cx="5486400" cy="43542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70BE3A-0252-4F23-A106-691215AB495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7678365" y="4732734"/>
            <a:ext cx="1276947" cy="273844"/>
          </a:xfrm>
        </p:spPr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02391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28650" y="1632858"/>
            <a:ext cx="3694339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821012" y="1632858"/>
            <a:ext cx="3694339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971648" y="1453075"/>
            <a:ext cx="1008342" cy="626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6125613" y="1412170"/>
            <a:ext cx="1085134" cy="626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20861" y="2135048"/>
            <a:ext cx="3224390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20861" y="2752982"/>
            <a:ext cx="3224390" cy="21782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5011861" y="2135048"/>
            <a:ext cx="3224390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5011861" y="2752982"/>
            <a:ext cx="3224390" cy="21782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39272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28650" y="1632858"/>
            <a:ext cx="223429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54854" y="1632858"/>
            <a:ext cx="223429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281057" y="1632857"/>
            <a:ext cx="223429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310368" y="1453075"/>
            <a:ext cx="870857" cy="626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4136571" y="1412170"/>
            <a:ext cx="870857" cy="626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962775" y="1412170"/>
            <a:ext cx="870857" cy="626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771355" y="2135048"/>
            <a:ext cx="1950074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771355" y="2752982"/>
            <a:ext cx="1950074" cy="21782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596198" y="2135048"/>
            <a:ext cx="1950074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596198" y="2752982"/>
            <a:ext cx="1950074" cy="21782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421041" y="2132750"/>
            <a:ext cx="1950074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421041" y="2750685"/>
            <a:ext cx="1950074" cy="21782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58575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508907" y="1632858"/>
            <a:ext cx="192983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2578213" y="1632858"/>
            <a:ext cx="192983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4639410" y="1632857"/>
            <a:ext cx="192983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03539" y="1453075"/>
            <a:ext cx="752189" cy="626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172844" y="1412170"/>
            <a:ext cx="752189" cy="626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5234041" y="1412170"/>
            <a:ext cx="752189" cy="626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651613" y="2135048"/>
            <a:ext cx="1684343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51613" y="2752982"/>
            <a:ext cx="1684343" cy="21782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2719558" y="2135048"/>
            <a:ext cx="1684343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2719558" y="2752982"/>
            <a:ext cx="1684343" cy="21782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4779394" y="2132750"/>
            <a:ext cx="1684343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4779394" y="2750685"/>
            <a:ext cx="1684343" cy="21782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6709227" y="1632857"/>
            <a:ext cx="192983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7303858" y="1412170"/>
            <a:ext cx="752189" cy="626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6849211" y="2132750"/>
            <a:ext cx="1684343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6849211" y="2750685"/>
            <a:ext cx="1684343" cy="21782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3949024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28650" y="1632858"/>
            <a:ext cx="3694339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426415"/>
            <a:ext cx="7886700" cy="994172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821012" y="1632858"/>
            <a:ext cx="3694339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20861" y="1770206"/>
            <a:ext cx="3224390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20861" y="2525490"/>
            <a:ext cx="3224390" cy="240573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5011861" y="1770206"/>
            <a:ext cx="3224390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5011861" y="2525490"/>
            <a:ext cx="3224390" cy="240573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78009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28650" y="1632858"/>
            <a:ext cx="223429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424117"/>
            <a:ext cx="7886700" cy="994172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54854" y="1632858"/>
            <a:ext cx="223429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281057" y="1632857"/>
            <a:ext cx="223429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771355" y="1635154"/>
            <a:ext cx="1950074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771355" y="2375383"/>
            <a:ext cx="1950074" cy="255584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596198" y="1635154"/>
            <a:ext cx="1950074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596198" y="2375383"/>
            <a:ext cx="1950074" cy="255584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421041" y="1632857"/>
            <a:ext cx="1950074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421041" y="2373086"/>
            <a:ext cx="1950074" cy="255584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13311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508907" y="1632858"/>
            <a:ext cx="192983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424117"/>
            <a:ext cx="7886700" cy="994172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2578213" y="1632858"/>
            <a:ext cx="192983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4639410" y="1632857"/>
            <a:ext cx="192983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651613" y="1715351"/>
            <a:ext cx="1684343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51613" y="2413482"/>
            <a:ext cx="1684343" cy="25177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2719558" y="1715351"/>
            <a:ext cx="1684343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2719558" y="2413482"/>
            <a:ext cx="1684343" cy="25177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4779394" y="1713053"/>
            <a:ext cx="1684343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4779394" y="2411185"/>
            <a:ext cx="1684343" cy="25177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6709227" y="1632857"/>
            <a:ext cx="192983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6849211" y="1713053"/>
            <a:ext cx="1684343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6849211" y="2411185"/>
            <a:ext cx="1684343" cy="25177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96130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3398" y="393700"/>
            <a:ext cx="2738001" cy="153868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4020423" y="2278063"/>
            <a:ext cx="5123578" cy="2427287"/>
          </a:xfrm>
          <a:noFill/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841533" y="2278063"/>
            <a:ext cx="2904967" cy="2427287"/>
          </a:xfrm>
          <a:noFill/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27001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5"/>
          </p:nvPr>
        </p:nvSpPr>
        <p:spPr>
          <a:xfrm>
            <a:off x="4020422" y="0"/>
            <a:ext cx="5123578" cy="2024743"/>
          </a:xfrm>
          <a:noFill/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74313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4572001" cy="514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4975963" y="744141"/>
            <a:ext cx="3743495" cy="3655219"/>
          </a:xfrm>
        </p:spPr>
        <p:txBody>
          <a:bodyPr/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1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500"/>
            </a:lvl4pPr>
            <a:lvl5pPr>
              <a:lnSpc>
                <a:spcPct val="10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445636" y="522514"/>
            <a:ext cx="3680390" cy="4107485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4363286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704851" y="1418289"/>
            <a:ext cx="1959428" cy="31024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424117"/>
            <a:ext cx="7807437" cy="994172"/>
          </a:xfrm>
        </p:spPr>
        <p:txBody>
          <a:bodyPr/>
          <a:lstStyle>
            <a:lvl1pPr algn="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935832" y="1646887"/>
            <a:ext cx="1959769" cy="3080147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475264" y="1418289"/>
            <a:ext cx="1959428" cy="31024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1" name="Рисунок 3"/>
          <p:cNvSpPr>
            <a:spLocks noGrp="1"/>
          </p:cNvSpPr>
          <p:nvPr>
            <p:ph type="pic" sz="quarter" idx="11"/>
          </p:nvPr>
        </p:nvSpPr>
        <p:spPr>
          <a:xfrm>
            <a:off x="3706245" y="1646887"/>
            <a:ext cx="1959769" cy="3080147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6245338" y="1446777"/>
            <a:ext cx="1959428" cy="31024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3" name="Рисунок 3"/>
          <p:cNvSpPr>
            <a:spLocks noGrp="1"/>
          </p:cNvSpPr>
          <p:nvPr>
            <p:ph type="pic" sz="quarter" idx="12"/>
          </p:nvPr>
        </p:nvSpPr>
        <p:spPr>
          <a:xfrm>
            <a:off x="6476319" y="1675376"/>
            <a:ext cx="1959769" cy="3080147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400067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6556" y="1911294"/>
            <a:ext cx="2405742" cy="120015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3037115" y="-3573"/>
            <a:ext cx="6106886" cy="32148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3037116" y="3211116"/>
            <a:ext cx="6106885" cy="1932384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242413" y="342900"/>
            <a:ext cx="5531473" cy="250915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FFFFFF"/>
                </a:solidFill>
              </a:defRPr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6557" y="2339824"/>
            <a:ext cx="794657" cy="834029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602633" y="1948123"/>
            <a:ext cx="430259" cy="45157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7589332" y="2722483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270007" y="1890884"/>
            <a:ext cx="220727" cy="2316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7334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6556" y="1225328"/>
            <a:ext cx="2405742" cy="120015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3037115" y="-3573"/>
            <a:ext cx="6106886" cy="5147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455541" y="4309471"/>
            <a:ext cx="794657" cy="834029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681617" y="3917770"/>
            <a:ext cx="430259" cy="45157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7668316" y="4692130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245829" y="1041799"/>
            <a:ext cx="220727" cy="2316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3472543" y="762000"/>
            <a:ext cx="4982998" cy="354747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3559969" y="859632"/>
            <a:ext cx="4816079" cy="3299222"/>
          </a:xfrm>
        </p:spPr>
        <p:txBody>
          <a:bodyPr/>
          <a:lstStyle/>
          <a:p>
            <a:r>
              <a:rPr lang="ru-RU"/>
              <a:t>Вставка диаграммы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466556" y="2609006"/>
            <a:ext cx="2405742" cy="130876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342900" indent="0">
              <a:buNone/>
              <a:defRPr sz="1200"/>
            </a:lvl2pPr>
            <a:lvl3pPr marL="685800" indent="0">
              <a:buNone/>
              <a:defRPr sz="1100"/>
            </a:lvl3pPr>
            <a:lvl4pPr marL="1028700" indent="0">
              <a:buNone/>
              <a:defRPr sz="900"/>
            </a:lvl4pPr>
            <a:lvl5pPr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375852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1750" y="630011"/>
            <a:ext cx="4841736" cy="84884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7979229" y="4158854"/>
            <a:ext cx="1164771" cy="993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56192" y="242808"/>
            <a:ext cx="220727" cy="2316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731750" y="1709057"/>
            <a:ext cx="7582529" cy="2219599"/>
          </a:xfrm>
        </p:spPr>
        <p:txBody>
          <a:bodyPr/>
          <a:lstStyle/>
          <a:p>
            <a:r>
              <a:rPr lang="ru-RU"/>
              <a:t>Вставка диаграммы</a:t>
            </a:r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1" y="4158853"/>
            <a:ext cx="7956947" cy="984647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731750" y="0"/>
            <a:ext cx="335051" cy="3516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937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3398" y="393700"/>
            <a:ext cx="2738001" cy="153868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003257" y="2245406"/>
            <a:ext cx="2713581" cy="1578428"/>
          </a:xfrm>
          <a:noFill/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2245406"/>
            <a:ext cx="1003257" cy="15784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5"/>
          </p:nvPr>
        </p:nvSpPr>
        <p:spPr>
          <a:xfrm>
            <a:off x="3716838" y="2245406"/>
            <a:ext cx="2713581" cy="1578428"/>
          </a:xfrm>
          <a:noFill/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6"/>
          </p:nvPr>
        </p:nvSpPr>
        <p:spPr>
          <a:xfrm>
            <a:off x="6430419" y="2245406"/>
            <a:ext cx="2713581" cy="1578428"/>
          </a:xfrm>
          <a:noFill/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1331348" y="3995200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7"/>
          </p:nvPr>
        </p:nvSpPr>
        <p:spPr>
          <a:xfrm>
            <a:off x="4044929" y="3995200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8"/>
          </p:nvPr>
        </p:nvSpPr>
        <p:spPr>
          <a:xfrm>
            <a:off x="6758510" y="3995200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8229600" y="393700"/>
            <a:ext cx="346813" cy="3639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690347" y="838284"/>
            <a:ext cx="251126" cy="263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877694" y="4140235"/>
            <a:ext cx="251126" cy="263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8440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1"/>
            <a:ext cx="5463609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463610" y="1"/>
            <a:ext cx="3680390" cy="2209800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1"/>
          </p:nvPr>
        </p:nvSpPr>
        <p:spPr>
          <a:xfrm>
            <a:off x="5463610" y="2209801"/>
            <a:ext cx="3680390" cy="1839685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2"/>
          </p:nvPr>
        </p:nvSpPr>
        <p:spPr>
          <a:xfrm>
            <a:off x="5463610" y="4049485"/>
            <a:ext cx="3680390" cy="1094015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447505" y="1545772"/>
            <a:ext cx="4559923" cy="3214348"/>
          </a:xfrm>
        </p:spPr>
        <p:txBody>
          <a:bodyPr/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1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500"/>
            </a:lvl4pPr>
            <a:lvl5pPr>
              <a:lnSpc>
                <a:spcPct val="10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447505" y="420007"/>
            <a:ext cx="4164029" cy="9017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1011" y="4329157"/>
            <a:ext cx="794657" cy="834029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643215" y="4543268"/>
            <a:ext cx="430259" cy="45157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334913" y="3681845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859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8186057" y="0"/>
            <a:ext cx="957943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8164116" cy="2601686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393372" y="2864757"/>
            <a:ext cx="489857" cy="5141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2" name="Текст 2"/>
          <p:cNvSpPr>
            <a:spLocks noGrp="1"/>
          </p:cNvSpPr>
          <p:nvPr>
            <p:ph type="body" idx="1"/>
          </p:nvPr>
        </p:nvSpPr>
        <p:spPr>
          <a:xfrm>
            <a:off x="609599" y="3483571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3761014" y="2864757"/>
            <a:ext cx="489857" cy="5141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4" name="Текст 2"/>
          <p:cNvSpPr>
            <a:spLocks noGrp="1"/>
          </p:cNvSpPr>
          <p:nvPr>
            <p:ph type="body" idx="11"/>
          </p:nvPr>
        </p:nvSpPr>
        <p:spPr>
          <a:xfrm>
            <a:off x="2977241" y="3483571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6128656" y="2864757"/>
            <a:ext cx="489857" cy="5141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6" name="Текст 2"/>
          <p:cNvSpPr>
            <a:spLocks noGrp="1"/>
          </p:cNvSpPr>
          <p:nvPr>
            <p:ph type="body" idx="12"/>
          </p:nvPr>
        </p:nvSpPr>
        <p:spPr>
          <a:xfrm>
            <a:off x="5344883" y="3483571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6641037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8050" y="2111828"/>
            <a:ext cx="1406171" cy="2339556"/>
          </a:xfrm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447506" y="708008"/>
            <a:ext cx="3689067" cy="9017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4341610" y="0"/>
            <a:ext cx="4299857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4572001" y="420007"/>
            <a:ext cx="3762615" cy="4337051"/>
          </a:xfrm>
        </p:spPr>
        <p:txBody>
          <a:bodyPr/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1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500"/>
            </a:lvl4pPr>
            <a:lvl5pPr>
              <a:lnSpc>
                <a:spcPct val="10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1"/>
          </p:nvPr>
        </p:nvSpPr>
        <p:spPr>
          <a:xfrm>
            <a:off x="1427985" y="2111828"/>
            <a:ext cx="1490102" cy="2339556"/>
          </a:xfrm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2926763" y="2111828"/>
            <a:ext cx="1406171" cy="2339556"/>
          </a:xfrm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1709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4060372" y="1"/>
            <a:ext cx="5083628" cy="5143499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080657" y="867152"/>
            <a:ext cx="2612572" cy="1517662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4" name="Заголовок 1"/>
          <p:cNvSpPr txBox="1">
            <a:spLocks/>
          </p:cNvSpPr>
          <p:nvPr userDrawn="1"/>
        </p:nvSpPr>
        <p:spPr>
          <a:xfrm>
            <a:off x="6092166" y="867152"/>
            <a:ext cx="2612572" cy="1517662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18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заголовка</a:t>
            </a:r>
          </a:p>
        </p:txBody>
      </p:sp>
      <p:sp>
        <p:nvSpPr>
          <p:cNvPr id="15" name="Заголовок 1"/>
          <p:cNvSpPr txBox="1">
            <a:spLocks/>
          </p:cNvSpPr>
          <p:nvPr userDrawn="1"/>
        </p:nvSpPr>
        <p:spPr>
          <a:xfrm>
            <a:off x="3080657" y="2832023"/>
            <a:ext cx="2612572" cy="1517662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18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заголовка</a:t>
            </a:r>
          </a:p>
        </p:txBody>
      </p:sp>
      <p:sp>
        <p:nvSpPr>
          <p:cNvPr id="16" name="Заголовок 1"/>
          <p:cNvSpPr txBox="1">
            <a:spLocks/>
          </p:cNvSpPr>
          <p:nvPr userDrawn="1"/>
        </p:nvSpPr>
        <p:spPr>
          <a:xfrm>
            <a:off x="6092166" y="2832023"/>
            <a:ext cx="2612572" cy="1517662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18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заголовка</a:t>
            </a:r>
          </a:p>
        </p:txBody>
      </p:sp>
      <p:sp>
        <p:nvSpPr>
          <p:cNvPr id="22" name="Заголовок 1"/>
          <p:cNvSpPr txBox="1">
            <a:spLocks/>
          </p:cNvSpPr>
          <p:nvPr userDrawn="1"/>
        </p:nvSpPr>
        <p:spPr>
          <a:xfrm>
            <a:off x="473284" y="1529951"/>
            <a:ext cx="2738001" cy="1538684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2B824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1"/>
                </a:solidFill>
              </a:rPr>
              <a:t>Образец заголовка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1622329" y="4691924"/>
            <a:ext cx="430259" cy="45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311590" y="4349684"/>
            <a:ext cx="276760" cy="290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1309946" y="478810"/>
            <a:ext cx="176475" cy="1852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6643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447505" y="420007"/>
            <a:ext cx="8163095" cy="901700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330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1011" y="4470672"/>
            <a:ext cx="794657" cy="834029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643215" y="4543269"/>
            <a:ext cx="430259" cy="45157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84972" y="3496676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28105" y="1838535"/>
            <a:ext cx="1469573" cy="1542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834191" y="3483458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3876748" y="1838535"/>
            <a:ext cx="1469573" cy="1542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3582834" y="3483458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6625390" y="1838535"/>
            <a:ext cx="1469573" cy="1542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6331477" y="3483458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7857835" y="-27705"/>
            <a:ext cx="794657" cy="834029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8508084" y="560851"/>
            <a:ext cx="430259" cy="45157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6891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447505" y="420007"/>
            <a:ext cx="8163095" cy="901700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330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1011" y="4470672"/>
            <a:ext cx="794657" cy="834029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643215" y="4543269"/>
            <a:ext cx="430259" cy="45157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84972" y="3496676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834191" y="3483458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3582834" y="3483458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6331477" y="3483458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7857835" y="-27705"/>
            <a:ext cx="794657" cy="834029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8508084" y="560851"/>
            <a:ext cx="430259" cy="45157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093747" y="1838325"/>
            <a:ext cx="1538288" cy="1543050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3842390" y="1838325"/>
            <a:ext cx="1538288" cy="1543050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6591033" y="1838325"/>
            <a:ext cx="1538288" cy="1543050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65748138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 userDrawn="1"/>
        </p:nvSpPr>
        <p:spPr>
          <a:xfrm>
            <a:off x="6501408" y="1866872"/>
            <a:ext cx="1524001" cy="15403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3767052" y="1866872"/>
            <a:ext cx="1524001" cy="15403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001486" y="1855986"/>
            <a:ext cx="1524001" cy="15403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447505" y="550636"/>
            <a:ext cx="8163095" cy="901700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834191" y="3614087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3582834" y="3614087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6331477" y="3614087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093747" y="1968954"/>
            <a:ext cx="1538288" cy="1543050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3842390" y="1968954"/>
            <a:ext cx="1538288" cy="1543050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6591033" y="1968954"/>
            <a:ext cx="1538288" cy="1543050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067143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0" y="1"/>
            <a:ext cx="4582886" cy="2605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353822" y="1448301"/>
            <a:ext cx="3875241" cy="457554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13"/>
          </p:nvPr>
        </p:nvSpPr>
        <p:spPr>
          <a:xfrm>
            <a:off x="4582885" y="1"/>
            <a:ext cx="4561115" cy="2605199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25" name="Рисунок 2"/>
          <p:cNvSpPr>
            <a:spLocks noGrp="1"/>
          </p:cNvSpPr>
          <p:nvPr>
            <p:ph type="pic" sz="quarter" idx="14"/>
          </p:nvPr>
        </p:nvSpPr>
        <p:spPr>
          <a:xfrm>
            <a:off x="0" y="2605200"/>
            <a:ext cx="4582886" cy="2605199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28" name="Прямоугольник 27"/>
          <p:cNvSpPr/>
          <p:nvPr userDrawn="1"/>
        </p:nvSpPr>
        <p:spPr>
          <a:xfrm>
            <a:off x="4582885" y="2605200"/>
            <a:ext cx="4582886" cy="2605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30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353822" y="748960"/>
            <a:ext cx="3875241" cy="55364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5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6"/>
          </p:nvPr>
        </p:nvSpPr>
        <p:spPr>
          <a:xfrm>
            <a:off x="4936708" y="4028693"/>
            <a:ext cx="3875241" cy="457554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4936708" y="3329351"/>
            <a:ext cx="3875241" cy="55364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5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3407471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91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1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681" r:id="rId13"/>
    <p:sldLayoutId id="2147483655" r:id="rId14"/>
    <p:sldLayoutId id="2147483651" r:id="rId15"/>
    <p:sldLayoutId id="2147483661" r:id="rId16"/>
    <p:sldLayoutId id="2147483654" r:id="rId17"/>
    <p:sldLayoutId id="2147483650" r:id="rId18"/>
    <p:sldLayoutId id="2147483679" r:id="rId19"/>
    <p:sldLayoutId id="2147483663" r:id="rId20"/>
    <p:sldLayoutId id="2147483652" r:id="rId21"/>
    <p:sldLayoutId id="2147483662" r:id="rId22"/>
    <p:sldLayoutId id="2147483664" r:id="rId23"/>
    <p:sldLayoutId id="2147483665" r:id="rId24"/>
    <p:sldLayoutId id="2147483666" r:id="rId25"/>
    <p:sldLayoutId id="2147483667" r:id="rId26"/>
    <p:sldLayoutId id="2147483653" r:id="rId27"/>
    <p:sldLayoutId id="2147483668" r:id="rId28"/>
    <p:sldLayoutId id="2147483656" r:id="rId29"/>
    <p:sldLayoutId id="2147483669" r:id="rId30"/>
    <p:sldLayoutId id="2147483674" r:id="rId31"/>
    <p:sldLayoutId id="2147483670" r:id="rId32"/>
    <p:sldLayoutId id="2147483671" r:id="rId33"/>
    <p:sldLayoutId id="2147483672" r:id="rId34"/>
    <p:sldLayoutId id="2147483673" r:id="rId35"/>
    <p:sldLayoutId id="2147483675" r:id="rId36"/>
    <p:sldLayoutId id="2147483676" r:id="rId37"/>
    <p:sldLayoutId id="2147483677" r:id="rId38"/>
    <p:sldLayoutId id="2147483678" r:id="rId39"/>
    <p:sldLayoutId id="2147483680" r:id="rId40"/>
    <p:sldLayoutId id="2147483657" r:id="rId4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SetFit/enron_spam/viewer?row=0" TargetMode="External"/><Relationship Id="rId2" Type="http://schemas.openxmlformats.org/officeDocument/2006/relationships/hyperlink" Target="https://www.kaggle.com/datasets/uciml/sms-spam-collection-dataset" TargetMode="Externa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87748" y="3521763"/>
            <a:ext cx="8281852" cy="1146919"/>
          </a:xfrm>
        </p:spPr>
        <p:txBody>
          <a:bodyPr anchor="t">
            <a:normAutofit fontScale="90000"/>
          </a:bodyPr>
          <a:lstStyle/>
          <a:p>
            <a:pPr algn="r"/>
            <a:r>
              <a:rPr lang="ru-RU" sz="1600" b="1" dirty="0" smtClean="0">
                <a:solidFill>
                  <a:schemeClr val="bg1"/>
                </a:solidFill>
                <a:latin typeface="PermianSerifTypeface" panose="02000000000000000000" pitchFamily="50" charset="0"/>
              </a:rPr>
              <a:t>Выполнили:</a:t>
            </a:r>
            <a:r>
              <a:rPr lang="ru-RU" sz="1600" b="1" dirty="0">
                <a:solidFill>
                  <a:schemeClr val="bg1"/>
                </a:solidFill>
                <a:latin typeface="PermianSerifTypeface" panose="02000000000000000000" pitchFamily="50" charset="0"/>
              </a:rPr>
              <a:t/>
            </a:r>
            <a:br>
              <a:rPr lang="ru-RU" sz="1600" b="1" dirty="0">
                <a:solidFill>
                  <a:schemeClr val="bg1"/>
                </a:solidFill>
                <a:latin typeface="PermianSerifTypeface" panose="02000000000000000000" pitchFamily="50" charset="0"/>
              </a:rPr>
            </a:br>
            <a:r>
              <a:rPr lang="ru-RU" sz="1600" b="1" dirty="0" smtClean="0">
                <a:solidFill>
                  <a:schemeClr val="bg1"/>
                </a:solidFill>
                <a:latin typeface="PermianSerifTypeface" panose="02000000000000000000" pitchFamily="50" charset="0"/>
              </a:rPr>
              <a:t>студенты </a:t>
            </a:r>
            <a:r>
              <a:rPr lang="ru-RU" sz="1600" b="1" dirty="0">
                <a:solidFill>
                  <a:schemeClr val="bg1"/>
                </a:solidFill>
                <a:latin typeface="PermianSerifTypeface" panose="02000000000000000000" pitchFamily="50" charset="0"/>
              </a:rPr>
              <a:t>4 курса физико-математического института группы </a:t>
            </a:r>
            <a:r>
              <a:rPr lang="ru-RU" sz="1600" b="1" dirty="0" smtClean="0">
                <a:solidFill>
                  <a:schemeClr val="bg1"/>
                </a:solidFill>
                <a:latin typeface="PermianSerifTypeface" panose="02000000000000000000" pitchFamily="50" charset="0"/>
              </a:rPr>
              <a:t>РФЗ-2-2022</a:t>
            </a:r>
            <a:r>
              <a:rPr lang="ru-RU" sz="1600" b="1" dirty="0">
                <a:solidFill>
                  <a:schemeClr val="bg1"/>
                </a:solidFill>
                <a:latin typeface="PermianSerifTypeface" panose="02000000000000000000" pitchFamily="50" charset="0"/>
              </a:rPr>
              <a:t/>
            </a:r>
            <a:br>
              <a:rPr lang="ru-RU" sz="1600" b="1" dirty="0">
                <a:solidFill>
                  <a:schemeClr val="bg1"/>
                </a:solidFill>
                <a:latin typeface="PermianSerifTypeface" panose="02000000000000000000" pitchFamily="50" charset="0"/>
              </a:rPr>
            </a:br>
            <a:r>
              <a:rPr lang="ru-RU" sz="1600" b="1" dirty="0" smtClean="0">
                <a:solidFill>
                  <a:schemeClr val="bg1"/>
                </a:solidFill>
                <a:latin typeface="PermianSerifTypeface" panose="02000000000000000000" pitchFamily="50" charset="0"/>
              </a:rPr>
              <a:t>Воронова Алиса</a:t>
            </a:r>
            <a:br>
              <a:rPr lang="ru-RU" sz="1600" b="1" dirty="0" smtClean="0">
                <a:solidFill>
                  <a:schemeClr val="bg1"/>
                </a:solidFill>
                <a:latin typeface="PermianSerifTypeface" panose="02000000000000000000" pitchFamily="50" charset="0"/>
              </a:rPr>
            </a:br>
            <a:r>
              <a:rPr lang="ru-RU" sz="1600" b="1" dirty="0" err="1" smtClean="0">
                <a:solidFill>
                  <a:schemeClr val="bg1"/>
                </a:solidFill>
                <a:latin typeface="PermianSerifTypeface" panose="02000000000000000000" pitchFamily="50" charset="0"/>
              </a:rPr>
              <a:t>Швецова</a:t>
            </a:r>
            <a:r>
              <a:rPr lang="ru-RU" sz="1600" b="1" dirty="0" smtClean="0">
                <a:solidFill>
                  <a:schemeClr val="bg1"/>
                </a:solidFill>
                <a:latin typeface="PermianSerifTypeface" panose="02000000000000000000" pitchFamily="50" charset="0"/>
              </a:rPr>
              <a:t> Анастасия</a:t>
            </a:r>
            <a:br>
              <a:rPr lang="ru-RU" sz="1600" b="1" dirty="0" smtClean="0">
                <a:solidFill>
                  <a:schemeClr val="bg1"/>
                </a:solidFill>
                <a:latin typeface="PermianSerifTypeface" panose="02000000000000000000" pitchFamily="50" charset="0"/>
              </a:rPr>
            </a:br>
            <a:r>
              <a:rPr lang="ru-RU" sz="1600" b="1" dirty="0" smtClean="0">
                <a:solidFill>
                  <a:schemeClr val="bg1"/>
                </a:solidFill>
                <a:latin typeface="PermianSerifTypeface" panose="02000000000000000000" pitchFamily="50" charset="0"/>
              </a:rPr>
              <a:t>Грибушенков Михаил</a:t>
            </a:r>
            <a:endParaRPr lang="ru-RU" sz="1600" b="1" dirty="0">
              <a:solidFill>
                <a:schemeClr val="bg1"/>
              </a:solidFill>
              <a:latin typeface="PermianSerifTypeface" panose="02000000000000000000" pitchFamily="50" charset="0"/>
            </a:endParaRPr>
          </a:p>
        </p:txBody>
      </p:sp>
      <p:pic>
        <p:nvPicPr>
          <p:cNvPr id="2050" name="Picture 2" descr="X:\ОНИП\Презентация ПГНИУ\Фирстиль\Логотип ПГНИУ белый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282" y="416100"/>
            <a:ext cx="1494176" cy="149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86849" y="1981190"/>
            <a:ext cx="82818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solidFill>
                  <a:schemeClr val="bg1"/>
                </a:solidFill>
                <a:latin typeface="PermianSerifTypeface" panose="02000000000000000000" pitchFamily="50" charset="0"/>
              </a:rPr>
              <a:t>Машинное обучение для выявления </a:t>
            </a:r>
            <a:r>
              <a:rPr lang="ru-RU" sz="2800" b="1" dirty="0">
                <a:solidFill>
                  <a:schemeClr val="bg1"/>
                </a:solidFill>
                <a:latin typeface="PermianSerifTypeface" panose="02000000000000000000" pitchFamily="50" charset="0"/>
              </a:rPr>
              <a:t>спама в СМС-сообщениях и E-</a:t>
            </a:r>
            <a:r>
              <a:rPr lang="ru-RU" sz="2800" b="1" dirty="0" err="1">
                <a:solidFill>
                  <a:schemeClr val="bg1"/>
                </a:solidFill>
                <a:latin typeface="PermianSerifTypeface" panose="02000000000000000000" pitchFamily="50" charset="0"/>
              </a:rPr>
              <a:t>mail</a:t>
            </a:r>
            <a:endParaRPr lang="ru-RU" sz="2800" b="1" dirty="0">
              <a:solidFill>
                <a:schemeClr val="bg1"/>
              </a:solidFill>
              <a:latin typeface="PermianSerifTypeface" panose="02000000000000000000" pitchFamily="50" charset="0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8C31C234-62B7-4431-81DD-D42FD38594D1}"/>
              </a:ext>
            </a:extLst>
          </p:cNvPr>
          <p:cNvSpPr txBox="1">
            <a:spLocks/>
          </p:cNvSpPr>
          <p:nvPr/>
        </p:nvSpPr>
        <p:spPr>
          <a:xfrm>
            <a:off x="486849" y="3944983"/>
            <a:ext cx="7566401" cy="853005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5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1600" b="1" dirty="0">
              <a:latin typeface="PermianSerifTypeface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683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2">
            <a:extLst>
              <a:ext uri="{FF2B5EF4-FFF2-40B4-BE49-F238E27FC236}">
                <a16:creationId xmlns:a16="http://schemas.microsoft.com/office/drawing/2014/main" id="{A032768A-17D0-45EF-B5F1-2E4F3BF4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8" y="-36513"/>
            <a:ext cx="8543925" cy="768351"/>
          </a:xfrm>
        </p:spPr>
        <p:txBody>
          <a:bodyPr>
            <a:normAutofit/>
          </a:bodyPr>
          <a:lstStyle/>
          <a:p>
            <a:pPr eaLnBrk="1" hangingPunct="1"/>
            <a:r>
              <a:rPr kumimoji="0" lang="ru-RU" altLang="ru-RU" sz="2700" dirty="0" smtClean="0">
                <a:latin typeface="PermianSerifTypeface" panose="02000000000000000000" pitchFamily="50" charset="0"/>
                <a:ea typeface="Arial" panose="020B0604020202020204" pitchFamily="34" charset="0"/>
              </a:rPr>
              <a:t>Введение</a:t>
            </a:r>
            <a:endParaRPr kumimoji="0" lang="en-US" altLang="ru-RU" sz="2700" dirty="0">
              <a:latin typeface="PermianSerifTypeface" panose="02000000000000000000" pitchFamily="50" charset="0"/>
              <a:ea typeface="Arial" panose="020B060402020202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04D30C1-02AF-47B8-BED5-812549D59C83}"/>
              </a:ext>
            </a:extLst>
          </p:cNvPr>
          <p:cNvSpPr/>
          <p:nvPr/>
        </p:nvSpPr>
        <p:spPr>
          <a:xfrm>
            <a:off x="492263" y="731838"/>
            <a:ext cx="8115710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600" dirty="0" smtClean="0">
                <a:latin typeface="PermianSerifTypeface" panose="02000000000000000000" pitchFamily="50" charset="0"/>
              </a:rPr>
              <a:t>Цель работы – исследование возможности применения моделей машинного обучения для решения задачи опознавания спам-рассылок.</a:t>
            </a:r>
          </a:p>
          <a:p>
            <a:pPr>
              <a:lnSpc>
                <a:spcPct val="120000"/>
              </a:lnSpc>
            </a:pPr>
            <a:endParaRPr lang="ru-RU" sz="1600" dirty="0" smtClean="0">
              <a:latin typeface="PermianSerifTypeface" panose="02000000000000000000" pitchFamily="50" charset="0"/>
            </a:endParaRPr>
          </a:p>
          <a:p>
            <a:pPr>
              <a:lnSpc>
                <a:spcPct val="120000"/>
              </a:lnSpc>
            </a:pPr>
            <a:r>
              <a:rPr lang="ru-RU" sz="1600" dirty="0" smtClean="0">
                <a:latin typeface="PermianSerifTypeface" panose="02000000000000000000" pitchFamily="50" charset="0"/>
              </a:rPr>
              <a:t>Тема работы актуальна в связи с увеличением активности спам-рассылок любого вида в последнее время.</a:t>
            </a:r>
            <a:endParaRPr lang="ru-RU" sz="1600" dirty="0">
              <a:latin typeface="PermianSerifTypeface" panose="02000000000000000000" pitchFamily="50" charset="0"/>
            </a:endParaRPr>
          </a:p>
          <a:p>
            <a:pPr marL="534988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ru-RU" dirty="0"/>
              <a:t> 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975674-F990-44FF-BFA0-3B08B34F06EB}"/>
              </a:ext>
            </a:extLst>
          </p:cNvPr>
          <p:cNvSpPr txBox="1"/>
          <p:nvPr/>
        </p:nvSpPr>
        <p:spPr>
          <a:xfrm>
            <a:off x="8229600" y="4774474"/>
            <a:ext cx="77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FB39DF4-0BAA-47B9-88B0-039565E8E73E}" type="slidenum">
              <a:rPr lang="ru-RU" sz="160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pPr algn="r"/>
              <a:t>2</a:t>
            </a:fld>
            <a:r>
              <a:rPr lang="ru-RU" sz="1600" dirty="0">
                <a:solidFill>
                  <a:srgbClr val="910829"/>
                </a:solidFill>
                <a:latin typeface="PermianSerifTypeface" panose="02000000000000000000" pitchFamily="50" charset="0"/>
              </a:rPr>
              <a:t>/</a:t>
            </a:r>
            <a:r>
              <a:rPr lang="en-US" sz="1600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1</a:t>
            </a:r>
            <a:r>
              <a:rPr lang="ru-RU" sz="1600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2</a:t>
            </a:r>
            <a:endParaRPr lang="ru-RU" sz="1600" dirty="0">
              <a:solidFill>
                <a:srgbClr val="910829"/>
              </a:solidFill>
              <a:latin typeface="PermianSerifTypeface" panose="02000000000000000000" pitchFamily="50" charset="0"/>
            </a:endParaRPr>
          </a:p>
        </p:txBody>
      </p:sp>
      <p:pic>
        <p:nvPicPr>
          <p:cNvPr id="3074" name="Picture 2" descr="https://avatars.mds.yandex.net/i?id=aef52661b1b109713de3e72cfa3873af6a1677d1-4011519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5973" y="1895750"/>
            <a:ext cx="45720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820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2">
            <a:extLst>
              <a:ext uri="{FF2B5EF4-FFF2-40B4-BE49-F238E27FC236}">
                <a16:creationId xmlns:a16="http://schemas.microsoft.com/office/drawing/2014/main" id="{A032768A-17D0-45EF-B5F1-2E4F3BF4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8" y="-36513"/>
            <a:ext cx="8543925" cy="768351"/>
          </a:xfrm>
        </p:spPr>
        <p:txBody>
          <a:bodyPr>
            <a:normAutofit/>
          </a:bodyPr>
          <a:lstStyle/>
          <a:p>
            <a:pPr eaLnBrk="1" hangingPunct="1"/>
            <a:r>
              <a:rPr kumimoji="0" lang="ru-RU" altLang="ru-RU" sz="2700" dirty="0" smtClean="0">
                <a:latin typeface="PermianSerifTypeface" panose="02000000000000000000" pitchFamily="50" charset="0"/>
                <a:ea typeface="Arial" panose="020B0604020202020204" pitchFamily="34" charset="0"/>
              </a:rPr>
              <a:t>Постановка задачи</a:t>
            </a:r>
            <a:endParaRPr kumimoji="0" lang="en-US" altLang="ru-RU" sz="2700" dirty="0">
              <a:latin typeface="PermianSerifTypeface" panose="02000000000000000000" pitchFamily="50" charset="0"/>
              <a:ea typeface="Arial" panose="020B060402020202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04D30C1-02AF-47B8-BED5-812549D59C83}"/>
              </a:ext>
            </a:extLst>
          </p:cNvPr>
          <p:cNvSpPr/>
          <p:nvPr/>
        </p:nvSpPr>
        <p:spPr>
          <a:xfrm>
            <a:off x="444137" y="876538"/>
            <a:ext cx="828185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4988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ru-RU" dirty="0"/>
              <a:t> 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387977-3FB9-4730-B2DF-3036F12588B9}"/>
              </a:ext>
            </a:extLst>
          </p:cNvPr>
          <p:cNvSpPr txBox="1"/>
          <p:nvPr/>
        </p:nvSpPr>
        <p:spPr>
          <a:xfrm>
            <a:off x="8229600" y="4774474"/>
            <a:ext cx="77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FB39DF4-0BAA-47B9-88B0-039565E8E73E}" type="slidenum">
              <a:rPr lang="ru-RU" sz="160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pPr algn="r"/>
              <a:t>3</a:t>
            </a:fld>
            <a:r>
              <a:rPr lang="ru-RU" sz="1600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/12</a:t>
            </a:r>
            <a:endParaRPr lang="ru-RU" sz="1600" dirty="0">
              <a:solidFill>
                <a:srgbClr val="910829"/>
              </a:solidFill>
              <a:latin typeface="PermianSerifTypeface" panose="02000000000000000000" pitchFamily="50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04D30C1-02AF-47B8-BED5-812549D59C83}"/>
              </a:ext>
            </a:extLst>
          </p:cNvPr>
          <p:cNvSpPr/>
          <p:nvPr/>
        </p:nvSpPr>
        <p:spPr>
          <a:xfrm>
            <a:off x="492263" y="731838"/>
            <a:ext cx="8115710" cy="3514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решения поставленной цели следует выполнить следующие задачи.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 набор данных для исследования.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Произвести его анализ (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EDA)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предварительную обработку, чтобы сделать его пригодным для обучения моделей.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 модели для обучения.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Обучить выбранные модели на подготовленных данных и выбрать среди них лучшую.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применимость данной модели для практического применения.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4988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801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2">
            <a:extLst>
              <a:ext uri="{FF2B5EF4-FFF2-40B4-BE49-F238E27FC236}">
                <a16:creationId xmlns:a16="http://schemas.microsoft.com/office/drawing/2014/main" id="{A032768A-17D0-45EF-B5F1-2E4F3BF4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8" y="-36513"/>
            <a:ext cx="8543925" cy="768351"/>
          </a:xfrm>
        </p:spPr>
        <p:txBody>
          <a:bodyPr>
            <a:normAutofit/>
          </a:bodyPr>
          <a:lstStyle/>
          <a:p>
            <a:pPr eaLnBrk="1" hangingPunct="1"/>
            <a:r>
              <a:rPr kumimoji="0" lang="ru-RU" altLang="ru-RU" sz="2700" dirty="0" smtClean="0">
                <a:latin typeface="PermianSerifTypeface" panose="02000000000000000000" pitchFamily="50" charset="0"/>
                <a:ea typeface="Arial" panose="020B0604020202020204" pitchFamily="34" charset="0"/>
              </a:rPr>
              <a:t>Выбор наборов данных</a:t>
            </a:r>
            <a:endParaRPr kumimoji="0" lang="en-US" altLang="ru-RU" sz="2700" dirty="0">
              <a:latin typeface="PermianSerifTypeface" panose="02000000000000000000" pitchFamily="50" charset="0"/>
              <a:ea typeface="Arial" panose="020B060402020202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04D30C1-02AF-47B8-BED5-812549D59C83}"/>
              </a:ext>
            </a:extLst>
          </p:cNvPr>
          <p:cNvSpPr/>
          <p:nvPr/>
        </p:nvSpPr>
        <p:spPr>
          <a:xfrm>
            <a:off x="444137" y="876538"/>
            <a:ext cx="828185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4988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ru-RU" dirty="0"/>
              <a:t> 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387977-3FB9-4730-B2DF-3036F12588B9}"/>
              </a:ext>
            </a:extLst>
          </p:cNvPr>
          <p:cNvSpPr txBox="1"/>
          <p:nvPr/>
        </p:nvSpPr>
        <p:spPr>
          <a:xfrm>
            <a:off x="8229600" y="4774474"/>
            <a:ext cx="77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FB39DF4-0BAA-47B9-88B0-039565E8E73E}" type="slidenum">
              <a:rPr lang="ru-RU" sz="160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pPr algn="r"/>
              <a:t>4</a:t>
            </a:fld>
            <a:r>
              <a:rPr lang="ru-RU" sz="1600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/12</a:t>
            </a:r>
            <a:endParaRPr lang="ru-RU" sz="1600" dirty="0">
              <a:solidFill>
                <a:srgbClr val="910829"/>
              </a:solidFill>
              <a:latin typeface="PermianSerifTypeface" panose="02000000000000000000" pitchFamily="50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04D30C1-02AF-47B8-BED5-812549D59C83}"/>
              </a:ext>
            </a:extLst>
          </p:cNvPr>
          <p:cNvSpPr/>
          <p:nvPr/>
        </p:nvSpPr>
        <p:spPr>
          <a:xfrm>
            <a:off x="492263" y="731838"/>
            <a:ext cx="8115710" cy="3514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Интернете найдены два подходящих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датасета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Классический набор СМС, размеченных как спам и не-спам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база СМС-сообщений: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www.kaggle.com/datasets/uciml/sms-spam-collection-dataset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(5,6 тыс. сообщений)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Выборка электронных писем, приходивших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ня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почтовый ящик фирмы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Enron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huggingface.co/datasets/SetFit/enron_spam/viewer?row=0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(34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тыс. сообщений)</a:t>
            </a:r>
          </a:p>
          <a:p>
            <a:pPr>
              <a:lnSpc>
                <a:spcPct val="120000"/>
              </a:lnSpc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Было решено использовать в работе оба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датасета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Оба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датасета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англоязычные.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4988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20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2">
            <a:extLst>
              <a:ext uri="{FF2B5EF4-FFF2-40B4-BE49-F238E27FC236}">
                <a16:creationId xmlns:a16="http://schemas.microsoft.com/office/drawing/2014/main" id="{A032768A-17D0-45EF-B5F1-2E4F3BF4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8" y="-36513"/>
            <a:ext cx="8543925" cy="768351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ru-RU" sz="2700" dirty="0" smtClean="0">
                <a:latin typeface="PermianSerifTypeface" panose="02000000000000000000" pitchFamily="50" charset="0"/>
                <a:ea typeface="Arial" panose="020B0604020202020204" pitchFamily="34" charset="0"/>
              </a:rPr>
              <a:t>Предобработка данных</a:t>
            </a:r>
            <a:endParaRPr kumimoji="0" lang="en-US" altLang="ru-RU" sz="2700" dirty="0">
              <a:latin typeface="PermianSerifTypeface" panose="02000000000000000000" pitchFamily="50" charset="0"/>
              <a:ea typeface="Arial" panose="020B060402020202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04D30C1-02AF-47B8-BED5-812549D59C83}"/>
              </a:ext>
            </a:extLst>
          </p:cNvPr>
          <p:cNvSpPr/>
          <p:nvPr/>
        </p:nvSpPr>
        <p:spPr>
          <a:xfrm>
            <a:off x="444137" y="876538"/>
            <a:ext cx="828185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3BE03-8C2A-4D99-9CE4-1E81048A01FB}"/>
              </a:ext>
            </a:extLst>
          </p:cNvPr>
          <p:cNvSpPr txBox="1"/>
          <p:nvPr/>
        </p:nvSpPr>
        <p:spPr>
          <a:xfrm>
            <a:off x="8229600" y="4774474"/>
            <a:ext cx="77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FB39DF4-0BAA-47B9-88B0-039565E8E73E}" type="slidenum">
              <a:rPr lang="ru-RU" sz="160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pPr algn="r"/>
              <a:t>5</a:t>
            </a:fld>
            <a:r>
              <a:rPr lang="ru-RU" sz="1600" dirty="0">
                <a:solidFill>
                  <a:srgbClr val="910829"/>
                </a:solidFill>
                <a:latin typeface="PermianSerifTypeface" panose="02000000000000000000" pitchFamily="50" charset="0"/>
              </a:rPr>
              <a:t>/</a:t>
            </a:r>
            <a:r>
              <a:rPr lang="en-US" sz="1600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1</a:t>
            </a:r>
            <a:r>
              <a:rPr lang="ru-RU" sz="1600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2</a:t>
            </a:r>
            <a:endParaRPr lang="ru-RU" sz="1600" dirty="0">
              <a:solidFill>
                <a:srgbClr val="910829"/>
              </a:solidFill>
              <a:latin typeface="PermianSerifTypeface" panose="02000000000000000000" pitchFamily="50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04D30C1-02AF-47B8-BED5-812549D59C83}"/>
              </a:ext>
            </a:extLst>
          </p:cNvPr>
          <p:cNvSpPr/>
          <p:nvPr/>
        </p:nvSpPr>
        <p:spPr>
          <a:xfrm>
            <a:off x="444137" y="876538"/>
            <a:ext cx="828185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9238">
              <a:buClr>
                <a:srgbClr val="C00000"/>
              </a:buClr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Данные обоих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датасето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загружены из скачанных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.csv –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файлов, из них удалены дубликаты, данные дополнены информацией о числе символов и слов, восклицательных знаков, цифр. Из текстов удалены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служебные символы, лишние пробелы. В качестве эксперимента из текстов в копии оригинальных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датасетов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удалены часто встречающиеся и не несущие особой смысловой нагрузки слова («стоп-слова»). Тексты сведены в один нижний регистр.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7203" t="22862" r="44218" b="48687"/>
          <a:stretch/>
        </p:blipFill>
        <p:spPr>
          <a:xfrm>
            <a:off x="803010" y="2523027"/>
            <a:ext cx="3781502" cy="203736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6874" t="69815" r="75626" b="20555"/>
          <a:stretch/>
        </p:blipFill>
        <p:spPr>
          <a:xfrm>
            <a:off x="2124083" y="2495453"/>
            <a:ext cx="2075750" cy="99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4232" y="4466697"/>
            <a:ext cx="13298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</a:t>
            </a:r>
            <a:r>
              <a:rPr lang="ru-RU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СМС</a:t>
            </a:r>
            <a:endParaRPr lang="ru-RU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3"/>
          <a:srcRect l="21587" t="27822" r="30953" b="46922"/>
          <a:stretch/>
        </p:blipFill>
        <p:spPr>
          <a:xfrm>
            <a:off x="4722767" y="2427303"/>
            <a:ext cx="4003221" cy="203939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/>
          <a:srcRect l="21032" t="76640" r="59920" b="13201"/>
          <a:stretch/>
        </p:blipFill>
        <p:spPr>
          <a:xfrm>
            <a:off x="6146068" y="2404033"/>
            <a:ext cx="2496457" cy="10450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22767" y="4431606"/>
            <a:ext cx="2483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</a:t>
            </a:r>
            <a:r>
              <a:rPr lang="ru-RU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электронной почты</a:t>
            </a:r>
            <a:endParaRPr lang="ru-RU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395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/>
          <a:srcRect l="6458" t="20432" r="31598" b="8581"/>
          <a:stretch/>
        </p:blipFill>
        <p:spPr>
          <a:xfrm>
            <a:off x="342900" y="174824"/>
            <a:ext cx="7353300" cy="47400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96200" y="1206500"/>
            <a:ext cx="1282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датасета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СМС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302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l="19375" t="20926" r="19097" b="8580"/>
          <a:stretch/>
        </p:blipFill>
        <p:spPr>
          <a:xfrm>
            <a:off x="304800" y="172266"/>
            <a:ext cx="7142206" cy="46029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69201" y="1371600"/>
            <a:ext cx="13335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 smtClean="0"/>
              <a:t>Для </a:t>
            </a:r>
            <a:r>
              <a:rPr lang="ru-RU" i="1" dirty="0" err="1" smtClean="0"/>
              <a:t>датасета</a:t>
            </a:r>
            <a:r>
              <a:rPr lang="ru-RU" i="1" dirty="0" smtClean="0"/>
              <a:t> </a:t>
            </a:r>
            <a:r>
              <a:rPr lang="en-US" i="1" dirty="0" smtClean="0"/>
              <a:t>e-mail</a:t>
            </a:r>
            <a:endParaRPr lang="ru-RU" i="1" dirty="0" smtClean="0"/>
          </a:p>
          <a:p>
            <a:r>
              <a:rPr lang="ru-RU" i="1" dirty="0" smtClean="0"/>
              <a:t>Видны выбросы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897979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2">
            <a:extLst>
              <a:ext uri="{FF2B5EF4-FFF2-40B4-BE49-F238E27FC236}">
                <a16:creationId xmlns:a16="http://schemas.microsoft.com/office/drawing/2014/main" id="{A032768A-17D0-45EF-B5F1-2E4F3BF4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8" y="-36513"/>
            <a:ext cx="8543925" cy="768351"/>
          </a:xfrm>
        </p:spPr>
        <p:txBody>
          <a:bodyPr>
            <a:normAutofit/>
          </a:bodyPr>
          <a:lstStyle/>
          <a:p>
            <a:pPr eaLnBrk="1" hangingPunct="1"/>
            <a:r>
              <a:rPr kumimoji="0" lang="ru-RU" altLang="ru-RU" sz="2700" dirty="0" smtClean="0">
                <a:latin typeface="PermianSerifTypeface" panose="02000000000000000000" pitchFamily="50" charset="0"/>
                <a:ea typeface="Arial" panose="020B0604020202020204" pitchFamily="34" charset="0"/>
              </a:rPr>
              <a:t>Предобработка данных</a:t>
            </a:r>
            <a:endParaRPr kumimoji="0" lang="en-US" altLang="ru-RU" sz="2700" dirty="0">
              <a:latin typeface="PermianSerifTypeface" panose="02000000000000000000" pitchFamily="50" charset="0"/>
              <a:ea typeface="Arial" panose="020B060402020202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04D30C1-02AF-47B8-BED5-812549D59C83}"/>
              </a:ext>
            </a:extLst>
          </p:cNvPr>
          <p:cNvSpPr/>
          <p:nvPr/>
        </p:nvSpPr>
        <p:spPr>
          <a:xfrm>
            <a:off x="577201" y="731838"/>
            <a:ext cx="8281851" cy="151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600" dirty="0" smtClean="0">
                <a:latin typeface="PermianSerifTypeface" panose="02000000000000000000" pitchFamily="50" charset="0"/>
              </a:rPr>
              <a:t>В </a:t>
            </a:r>
            <a:r>
              <a:rPr lang="ru-RU" sz="1600" dirty="0" err="1" smtClean="0">
                <a:latin typeface="PermianSerifTypeface" panose="02000000000000000000" pitchFamily="50" charset="0"/>
              </a:rPr>
              <a:t>датасете</a:t>
            </a:r>
            <a:r>
              <a:rPr lang="ru-RU" sz="1600" dirty="0" smtClean="0">
                <a:latin typeface="PermianSerifTypeface" panose="02000000000000000000" pitchFamily="50" charset="0"/>
              </a:rPr>
              <a:t> электронной почты дополнительно объединены в один столбец тексты заголовка и содержания письма, удалены выбросы по длине сообщения.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975674-F990-44FF-BFA0-3B08B34F06EB}"/>
              </a:ext>
            </a:extLst>
          </p:cNvPr>
          <p:cNvSpPr txBox="1"/>
          <p:nvPr/>
        </p:nvSpPr>
        <p:spPr>
          <a:xfrm>
            <a:off x="8229600" y="4774474"/>
            <a:ext cx="77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FB39DF4-0BAA-47B9-88B0-039565E8E73E}" type="slidenum">
              <a:rPr lang="ru-RU" sz="160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pPr algn="r"/>
              <a:t>8</a:t>
            </a:fld>
            <a:r>
              <a:rPr lang="ru-RU" sz="1600" dirty="0">
                <a:solidFill>
                  <a:srgbClr val="910829"/>
                </a:solidFill>
                <a:latin typeface="PermianSerifTypeface" panose="02000000000000000000" pitchFamily="50" charset="0"/>
              </a:rPr>
              <a:t>/</a:t>
            </a:r>
            <a:r>
              <a:rPr lang="en-US" sz="1600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1</a:t>
            </a:r>
            <a:r>
              <a:rPr lang="ru-RU" sz="1600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2</a:t>
            </a:r>
            <a:endParaRPr lang="ru-RU" sz="1600" dirty="0">
              <a:solidFill>
                <a:srgbClr val="910829"/>
              </a:solidFill>
              <a:latin typeface="PermianSerifTypeface" panose="02000000000000000000" pitchFamily="50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60080" t="33748" r="3095" b="21949"/>
          <a:stretch/>
        </p:blipFill>
        <p:spPr>
          <a:xfrm>
            <a:off x="452664" y="1500189"/>
            <a:ext cx="4049486" cy="274038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l="22539" t="30381" r="49841" b="33096"/>
          <a:stretch/>
        </p:blipFill>
        <p:spPr>
          <a:xfrm>
            <a:off x="4718126" y="1574800"/>
            <a:ext cx="3432403" cy="25531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5500" y="4240573"/>
            <a:ext cx="2445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 удаления выбросов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74986" y="4240573"/>
            <a:ext cx="793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975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2">
            <a:extLst>
              <a:ext uri="{FF2B5EF4-FFF2-40B4-BE49-F238E27FC236}">
                <a16:creationId xmlns:a16="http://schemas.microsoft.com/office/drawing/2014/main" id="{A032768A-17D0-45EF-B5F1-2E4F3BF4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8" y="-36513"/>
            <a:ext cx="8543925" cy="768351"/>
          </a:xfrm>
        </p:spPr>
        <p:txBody>
          <a:bodyPr>
            <a:normAutofit/>
          </a:bodyPr>
          <a:lstStyle/>
          <a:p>
            <a:pPr eaLnBrk="1" hangingPunct="1"/>
            <a:r>
              <a:rPr kumimoji="0" lang="ru-RU" altLang="ru-RU" sz="2700" dirty="0" smtClean="0">
                <a:latin typeface="PermianSerifTypeface" panose="02000000000000000000" pitchFamily="50" charset="0"/>
                <a:ea typeface="Arial" panose="020B0604020202020204" pitchFamily="34" charset="0"/>
              </a:rPr>
              <a:t>Предобработка данных</a:t>
            </a:r>
            <a:endParaRPr kumimoji="0" lang="en-US" altLang="ru-RU" sz="2700" dirty="0">
              <a:latin typeface="PermianSerifTypeface" panose="02000000000000000000" pitchFamily="50" charset="0"/>
              <a:ea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975674-F990-44FF-BFA0-3B08B34F06EB}"/>
              </a:ext>
            </a:extLst>
          </p:cNvPr>
          <p:cNvSpPr txBox="1"/>
          <p:nvPr/>
        </p:nvSpPr>
        <p:spPr>
          <a:xfrm>
            <a:off x="8229600" y="4774474"/>
            <a:ext cx="77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FB39DF4-0BAA-47B9-88B0-039565E8E73E}" type="slidenum">
              <a:rPr lang="ru-RU" sz="160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pPr algn="r"/>
              <a:t>9</a:t>
            </a:fld>
            <a:r>
              <a:rPr lang="ru-RU" sz="1600" dirty="0">
                <a:solidFill>
                  <a:srgbClr val="910829"/>
                </a:solidFill>
                <a:latin typeface="PermianSerifTypeface" panose="02000000000000000000" pitchFamily="50" charset="0"/>
              </a:rPr>
              <a:t>/</a:t>
            </a:r>
            <a:r>
              <a:rPr lang="en-US" sz="1600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1</a:t>
            </a:r>
            <a:r>
              <a:rPr lang="ru-RU" sz="1600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2</a:t>
            </a:r>
            <a:endParaRPr lang="ru-RU" sz="1600" dirty="0">
              <a:solidFill>
                <a:srgbClr val="910829"/>
              </a:solidFill>
              <a:latin typeface="PermianSerifTypeface" panose="02000000000000000000" pitchFamily="50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6457" t="26604" r="60001" b="30062"/>
          <a:stretch/>
        </p:blipFill>
        <p:spPr>
          <a:xfrm>
            <a:off x="257176" y="685800"/>
            <a:ext cx="4098924" cy="3937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18819" t="25371" r="47153" b="30926"/>
          <a:stretch/>
        </p:blipFill>
        <p:spPr>
          <a:xfrm>
            <a:off x="4760120" y="731838"/>
            <a:ext cx="4040981" cy="3890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1000" y="4622800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СМС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02200" y="4625219"/>
            <a:ext cx="1226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E-mail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19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3975674-F990-44FF-BFA0-3B08B34F06EB}"/>
              </a:ext>
            </a:extLst>
          </p:cNvPr>
          <p:cNvSpPr txBox="1"/>
          <p:nvPr/>
        </p:nvSpPr>
        <p:spPr>
          <a:xfrm>
            <a:off x="8229600" y="4774474"/>
            <a:ext cx="77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FB39DF4-0BAA-47B9-88B0-039565E8E73E}" type="slidenum">
              <a:rPr lang="ru-RU" sz="160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pPr algn="r"/>
              <a:t>10</a:t>
            </a:fld>
            <a:r>
              <a:rPr lang="ru-RU" sz="1600" dirty="0">
                <a:solidFill>
                  <a:srgbClr val="910829"/>
                </a:solidFill>
                <a:latin typeface="PermianSerifTypeface" panose="02000000000000000000" pitchFamily="50" charset="0"/>
              </a:rPr>
              <a:t>/</a:t>
            </a:r>
            <a:r>
              <a:rPr lang="en-US" sz="1600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1</a:t>
            </a:r>
            <a:r>
              <a:rPr lang="ru-RU" sz="1600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2</a:t>
            </a:r>
            <a:endParaRPr lang="ru-RU" sz="1600" dirty="0">
              <a:solidFill>
                <a:srgbClr val="910829"/>
              </a:solidFill>
              <a:latin typeface="PermianSerifTypeface" panose="02000000000000000000" pitchFamily="50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8819" t="33025" r="9306" b="13395"/>
          <a:stretch/>
        </p:blipFill>
        <p:spPr>
          <a:xfrm>
            <a:off x="342900" y="127000"/>
            <a:ext cx="8394700" cy="42781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1800" y="4405142"/>
            <a:ext cx="7015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 примере набора СМС. Для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E-mail 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слова значительно отличаются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803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3975674-F990-44FF-BFA0-3B08B34F06EB}"/>
              </a:ext>
            </a:extLst>
          </p:cNvPr>
          <p:cNvSpPr txBox="1"/>
          <p:nvPr/>
        </p:nvSpPr>
        <p:spPr>
          <a:xfrm>
            <a:off x="8229600" y="4774474"/>
            <a:ext cx="77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FB39DF4-0BAA-47B9-88B0-039565E8E73E}" type="slidenum">
              <a:rPr lang="ru-RU" sz="160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pPr algn="r"/>
              <a:t>11</a:t>
            </a:fld>
            <a:r>
              <a:rPr lang="ru-RU" sz="1600" dirty="0">
                <a:solidFill>
                  <a:srgbClr val="910829"/>
                </a:solidFill>
                <a:latin typeface="PermianSerifTypeface" panose="02000000000000000000" pitchFamily="50" charset="0"/>
              </a:rPr>
              <a:t>/</a:t>
            </a:r>
            <a:r>
              <a:rPr lang="en-US" sz="1600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1</a:t>
            </a:r>
            <a:r>
              <a:rPr lang="ru-RU" sz="1600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2</a:t>
            </a:r>
            <a:endParaRPr lang="ru-RU" sz="1600" dirty="0">
              <a:solidFill>
                <a:srgbClr val="910829"/>
              </a:solidFill>
              <a:latin typeface="PermianSerifTypeface" panose="02000000000000000000" pitchFamily="50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1800" y="4405142"/>
            <a:ext cx="6412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Облако слов в СМС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Более популярные слова – больший шрифт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7639" t="31296" r="8889" b="29322"/>
          <a:stretch/>
        </p:blipFill>
        <p:spPr>
          <a:xfrm>
            <a:off x="254000" y="203200"/>
            <a:ext cx="7975600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21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3975674-F990-44FF-BFA0-3B08B34F06EB}"/>
              </a:ext>
            </a:extLst>
          </p:cNvPr>
          <p:cNvSpPr txBox="1"/>
          <p:nvPr/>
        </p:nvSpPr>
        <p:spPr>
          <a:xfrm>
            <a:off x="8229600" y="4774474"/>
            <a:ext cx="77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FB39DF4-0BAA-47B9-88B0-039565E8E73E}" type="slidenum">
              <a:rPr lang="ru-RU" sz="160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pPr algn="r"/>
              <a:t>12</a:t>
            </a:fld>
            <a:r>
              <a:rPr lang="ru-RU" sz="1600" dirty="0">
                <a:solidFill>
                  <a:srgbClr val="910829"/>
                </a:solidFill>
                <a:latin typeface="PermianSerifTypeface" panose="02000000000000000000" pitchFamily="50" charset="0"/>
              </a:rPr>
              <a:t>/</a:t>
            </a:r>
            <a:r>
              <a:rPr lang="en-US" sz="1600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1</a:t>
            </a:r>
            <a:r>
              <a:rPr lang="ru-RU" sz="1600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2</a:t>
            </a:r>
            <a:endParaRPr lang="ru-RU" sz="1600" dirty="0">
              <a:solidFill>
                <a:srgbClr val="910829"/>
              </a:solidFill>
              <a:latin typeface="PermianSerifTypeface" panose="02000000000000000000" pitchFamily="50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21457" t="28333" r="1459" b="32407"/>
          <a:stretch/>
        </p:blipFill>
        <p:spPr>
          <a:xfrm>
            <a:off x="317500" y="0"/>
            <a:ext cx="7518400" cy="403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1800" y="4405142"/>
            <a:ext cx="6540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Облако слов в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E-mail.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Более популярные слова – больший шрифт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67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2">
            <a:extLst>
              <a:ext uri="{FF2B5EF4-FFF2-40B4-BE49-F238E27FC236}">
                <a16:creationId xmlns:a16="http://schemas.microsoft.com/office/drawing/2014/main" id="{A032768A-17D0-45EF-B5F1-2E4F3BF4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8" y="-36513"/>
            <a:ext cx="8543925" cy="768351"/>
          </a:xfrm>
        </p:spPr>
        <p:txBody>
          <a:bodyPr>
            <a:normAutofit/>
          </a:bodyPr>
          <a:lstStyle/>
          <a:p>
            <a:pPr eaLnBrk="1" hangingPunct="1"/>
            <a:r>
              <a:rPr kumimoji="0" lang="ru-RU" altLang="ru-RU" sz="2700" dirty="0" smtClean="0">
                <a:latin typeface="PermianSerifTypeface" panose="02000000000000000000" pitchFamily="50" charset="0"/>
                <a:ea typeface="Arial" panose="020B0604020202020204" pitchFamily="34" charset="0"/>
              </a:rPr>
              <a:t>Выбор моделей</a:t>
            </a:r>
            <a:endParaRPr kumimoji="0" lang="en-US" altLang="ru-RU" sz="2700" dirty="0">
              <a:latin typeface="PermianSerifTypeface" panose="02000000000000000000" pitchFamily="50" charset="0"/>
              <a:ea typeface="Arial" panose="020B060402020202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04D30C1-02AF-47B8-BED5-812549D59C83}"/>
              </a:ext>
            </a:extLst>
          </p:cNvPr>
          <p:cNvSpPr/>
          <p:nvPr/>
        </p:nvSpPr>
        <p:spPr>
          <a:xfrm>
            <a:off x="444137" y="876538"/>
            <a:ext cx="828185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4988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ru-RU" dirty="0"/>
              <a:t> 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387977-3FB9-4730-B2DF-3036F12588B9}"/>
              </a:ext>
            </a:extLst>
          </p:cNvPr>
          <p:cNvSpPr txBox="1"/>
          <p:nvPr/>
        </p:nvSpPr>
        <p:spPr>
          <a:xfrm>
            <a:off x="8229600" y="4774474"/>
            <a:ext cx="77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FB39DF4-0BAA-47B9-88B0-039565E8E73E}" type="slidenum">
              <a:rPr lang="ru-RU" sz="160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pPr algn="r"/>
              <a:t>13</a:t>
            </a:fld>
            <a:r>
              <a:rPr lang="ru-RU" sz="1600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/12</a:t>
            </a:r>
            <a:endParaRPr lang="ru-RU" sz="1600" dirty="0">
              <a:solidFill>
                <a:srgbClr val="910829"/>
              </a:solidFill>
              <a:latin typeface="PermianSerifTypeface" panose="02000000000000000000" pitchFamily="50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04D30C1-02AF-47B8-BED5-812549D59C83}"/>
              </a:ext>
            </a:extLst>
          </p:cNvPr>
          <p:cNvSpPr/>
          <p:nvPr/>
        </p:nvSpPr>
        <p:spPr>
          <a:xfrm>
            <a:off x="444137" y="630238"/>
            <a:ext cx="8115710" cy="4861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Выбраны для исследования три модели классификатора: наивный байесовский, логистическая регрессия и метод опорных векторов как простейшие и применяемые в действительности в подобных задачах. Выбраны также два метода векторизации текста: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Vectorizer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TF-IDF.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 сравним между собой, а также проверим в работе с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датасетом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содержащим или не содержащим стоп-слова.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Проверим их в вариантах с весами классов по умолчанию или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“balanced”,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что может быть важно в несбалансированном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датасете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791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2">
            <a:extLst>
              <a:ext uri="{FF2B5EF4-FFF2-40B4-BE49-F238E27FC236}">
                <a16:creationId xmlns:a16="http://schemas.microsoft.com/office/drawing/2014/main" id="{A032768A-17D0-45EF-B5F1-2E4F3BF4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8" y="-36513"/>
            <a:ext cx="8543925" cy="768351"/>
          </a:xfrm>
        </p:spPr>
        <p:txBody>
          <a:bodyPr>
            <a:normAutofit/>
          </a:bodyPr>
          <a:lstStyle/>
          <a:p>
            <a:pPr eaLnBrk="1" hangingPunct="1"/>
            <a:r>
              <a:rPr kumimoji="0" lang="ru-RU" altLang="ru-RU" sz="2700" dirty="0" smtClean="0">
                <a:latin typeface="PermianSerifTypeface" panose="02000000000000000000" pitchFamily="50" charset="0"/>
                <a:ea typeface="Arial" panose="020B0604020202020204" pitchFamily="34" charset="0"/>
              </a:rPr>
              <a:t>Метрики</a:t>
            </a:r>
            <a:endParaRPr kumimoji="0" lang="en-US" altLang="ru-RU" sz="2700" dirty="0">
              <a:latin typeface="PermianSerifTypeface" panose="02000000000000000000" pitchFamily="50" charset="0"/>
              <a:ea typeface="Arial" panose="020B060402020202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04D30C1-02AF-47B8-BED5-812549D59C83}"/>
              </a:ext>
            </a:extLst>
          </p:cNvPr>
          <p:cNvSpPr/>
          <p:nvPr/>
        </p:nvSpPr>
        <p:spPr>
          <a:xfrm>
            <a:off x="492262" y="731838"/>
            <a:ext cx="8281851" cy="2111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 smtClean="0">
                <a:latin typeface="PermianSerifTypeface" panose="02000000000000000000" pitchFamily="50" charset="0"/>
              </a:rPr>
              <a:t>Для всех вариантов получены аналогичные метрики: </a:t>
            </a:r>
            <a:r>
              <a:rPr lang="en-US" dirty="0" smtClean="0">
                <a:latin typeface="PermianSerifTypeface" panose="02000000000000000000" pitchFamily="50" charset="0"/>
              </a:rPr>
              <a:t>accuracy, precision </a:t>
            </a:r>
            <a:r>
              <a:rPr lang="ru-RU" dirty="0" smtClean="0">
                <a:latin typeface="PermianSerifTypeface" panose="02000000000000000000" pitchFamily="50" charset="0"/>
              </a:rPr>
              <a:t>по классу </a:t>
            </a:r>
            <a:r>
              <a:rPr lang="en-US" dirty="0" smtClean="0">
                <a:latin typeface="PermianSerifTypeface" panose="02000000000000000000" pitchFamily="50" charset="0"/>
              </a:rPr>
              <a:t>spam, recall </a:t>
            </a:r>
            <a:r>
              <a:rPr lang="ru-RU" dirty="0" smtClean="0">
                <a:latin typeface="PermianSerifTypeface" panose="02000000000000000000" pitchFamily="50" charset="0"/>
              </a:rPr>
              <a:t>и </a:t>
            </a:r>
            <a:r>
              <a:rPr lang="en-US" dirty="0" smtClean="0">
                <a:latin typeface="PermianSerifTypeface" panose="02000000000000000000" pitchFamily="50" charset="0"/>
              </a:rPr>
              <a:t>f1 </a:t>
            </a:r>
            <a:r>
              <a:rPr lang="ru-RU" dirty="0" smtClean="0">
                <a:latin typeface="PermianSerifTypeface" panose="02000000000000000000" pitchFamily="50" charset="0"/>
              </a:rPr>
              <a:t>по этому классу. </a:t>
            </a:r>
            <a:r>
              <a:rPr lang="ru-RU" dirty="0" smtClean="0">
                <a:latin typeface="PermianSerifTypeface" panose="02000000000000000000" pitchFamily="50" charset="0"/>
              </a:rPr>
              <a:t>А </a:t>
            </a:r>
            <a:r>
              <a:rPr lang="en-US" dirty="0" smtClean="0">
                <a:latin typeface="PermianSerifTypeface" panose="02000000000000000000" pitchFamily="50" charset="0"/>
              </a:rPr>
              <a:t>accuracy </a:t>
            </a:r>
            <a:r>
              <a:rPr lang="ru-RU" dirty="0" smtClean="0">
                <a:latin typeface="PermianSerifTypeface" panose="02000000000000000000" pitchFamily="50" charset="0"/>
              </a:rPr>
              <a:t>не так важен, </a:t>
            </a:r>
            <a:r>
              <a:rPr lang="ru-RU" dirty="0" err="1" smtClean="0">
                <a:latin typeface="PermianSerifTypeface" panose="02000000000000000000" pitchFamily="50" charset="0"/>
              </a:rPr>
              <a:t>датасет</a:t>
            </a:r>
            <a:r>
              <a:rPr lang="ru-RU" dirty="0" smtClean="0">
                <a:latin typeface="PermianSerifTypeface" panose="02000000000000000000" pitchFamily="50" charset="0"/>
              </a:rPr>
              <a:t> </a:t>
            </a:r>
            <a:r>
              <a:rPr lang="ru-RU" dirty="0" err="1" smtClean="0">
                <a:latin typeface="PermianSerifTypeface" panose="02000000000000000000" pitchFamily="50" charset="0"/>
              </a:rPr>
              <a:t>несбалансирован</a:t>
            </a:r>
            <a:r>
              <a:rPr lang="ru-RU" dirty="0" smtClean="0">
                <a:latin typeface="PermianSerifTypeface" panose="02000000000000000000" pitchFamily="50" charset="0"/>
              </a:rPr>
              <a:t>.</a:t>
            </a:r>
            <a:endParaRPr lang="ru-RU" dirty="0">
              <a:latin typeface="PermianSerifTypeface" panose="02000000000000000000" pitchFamily="50" charset="0"/>
            </a:endParaRPr>
          </a:p>
          <a:p>
            <a:pPr marL="534988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ru-RU" dirty="0"/>
              <a:t> 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975674-F990-44FF-BFA0-3B08B34F06EB}"/>
              </a:ext>
            </a:extLst>
          </p:cNvPr>
          <p:cNvSpPr txBox="1"/>
          <p:nvPr/>
        </p:nvSpPr>
        <p:spPr>
          <a:xfrm>
            <a:off x="8229600" y="4774474"/>
            <a:ext cx="77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FB39DF4-0BAA-47B9-88B0-039565E8E73E}" type="slidenum">
              <a:rPr lang="ru-RU" sz="160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pPr algn="r"/>
              <a:t>14</a:t>
            </a:fld>
            <a:r>
              <a:rPr lang="ru-RU" sz="1600" dirty="0">
                <a:solidFill>
                  <a:srgbClr val="910829"/>
                </a:solidFill>
                <a:latin typeface="PermianSerifTypeface" panose="02000000000000000000" pitchFamily="50" charset="0"/>
              </a:rPr>
              <a:t>/</a:t>
            </a:r>
            <a:r>
              <a:rPr lang="en-US" sz="1600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1</a:t>
            </a:r>
            <a:r>
              <a:rPr lang="ru-RU" sz="1600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2</a:t>
            </a:r>
            <a:endParaRPr lang="ru-RU" sz="1600" dirty="0">
              <a:solidFill>
                <a:srgbClr val="910829"/>
              </a:solidFill>
              <a:latin typeface="PermianSerifTypeface" panose="02000000000000000000" pitchFamily="50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9305" t="38333" r="52083" b="22654"/>
          <a:stretch/>
        </p:blipFill>
        <p:spPr>
          <a:xfrm>
            <a:off x="971550" y="1574074"/>
            <a:ext cx="70612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2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2">
            <a:extLst>
              <a:ext uri="{FF2B5EF4-FFF2-40B4-BE49-F238E27FC236}">
                <a16:creationId xmlns:a16="http://schemas.microsoft.com/office/drawing/2014/main" id="{A032768A-17D0-45EF-B5F1-2E4F3BF4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8" y="-36513"/>
            <a:ext cx="8543925" cy="768351"/>
          </a:xfrm>
        </p:spPr>
        <p:txBody>
          <a:bodyPr>
            <a:normAutofit/>
          </a:bodyPr>
          <a:lstStyle/>
          <a:p>
            <a:pPr eaLnBrk="1" hangingPunct="1"/>
            <a:r>
              <a:rPr kumimoji="0" lang="ru-RU" altLang="ru-RU" sz="2700" dirty="0" smtClean="0">
                <a:latin typeface="PermianSerifTypeface" panose="02000000000000000000" pitchFamily="50" charset="0"/>
                <a:ea typeface="Arial" panose="020B0604020202020204" pitchFamily="34" charset="0"/>
              </a:rPr>
              <a:t>Метрики</a:t>
            </a:r>
            <a:endParaRPr kumimoji="0" lang="en-US" altLang="ru-RU" sz="2700" dirty="0">
              <a:latin typeface="PermianSerifTypeface" panose="02000000000000000000" pitchFamily="50" charset="0"/>
              <a:ea typeface="Arial" panose="020B060402020202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04D30C1-02AF-47B8-BED5-812549D59C83}"/>
              </a:ext>
            </a:extLst>
          </p:cNvPr>
          <p:cNvSpPr/>
          <p:nvPr/>
        </p:nvSpPr>
        <p:spPr>
          <a:xfrm>
            <a:off x="492262" y="731838"/>
            <a:ext cx="828185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4988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ru-RU" dirty="0"/>
              <a:t> 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975674-F990-44FF-BFA0-3B08B34F06EB}"/>
              </a:ext>
            </a:extLst>
          </p:cNvPr>
          <p:cNvSpPr txBox="1"/>
          <p:nvPr/>
        </p:nvSpPr>
        <p:spPr>
          <a:xfrm>
            <a:off x="8229600" y="4774474"/>
            <a:ext cx="77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FB39DF4-0BAA-47B9-88B0-039565E8E73E}" type="slidenum">
              <a:rPr lang="ru-RU" sz="160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pPr algn="r"/>
              <a:t>15</a:t>
            </a:fld>
            <a:r>
              <a:rPr lang="ru-RU" sz="1600" dirty="0">
                <a:solidFill>
                  <a:srgbClr val="910829"/>
                </a:solidFill>
                <a:latin typeface="PermianSerifTypeface" panose="02000000000000000000" pitchFamily="50" charset="0"/>
              </a:rPr>
              <a:t>/</a:t>
            </a:r>
            <a:r>
              <a:rPr lang="en-US" sz="1600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1</a:t>
            </a:r>
            <a:r>
              <a:rPr lang="ru-RU" sz="1600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2</a:t>
            </a:r>
            <a:endParaRPr lang="ru-RU" sz="1600" dirty="0">
              <a:solidFill>
                <a:srgbClr val="910829"/>
              </a:solidFill>
              <a:latin typeface="PermianSerifTypeface" panose="02000000000000000000" pitchFamily="50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7639" t="23272" r="41320" b="23395"/>
          <a:stretch/>
        </p:blipFill>
        <p:spPr>
          <a:xfrm>
            <a:off x="230188" y="651151"/>
            <a:ext cx="8770637" cy="33747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2262" y="4128143"/>
            <a:ext cx="8281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Хорошо видно, что удаление стоп-слов увеличивает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precision,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 использование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class_weight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=balanced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увеличивает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recall.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296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032768A-17D0-45EF-B5F1-2E4F3BF4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88" y="-176213"/>
            <a:ext cx="8543925" cy="768351"/>
          </a:xfrm>
        </p:spPr>
        <p:txBody>
          <a:bodyPr>
            <a:normAutofit/>
          </a:bodyPr>
          <a:lstStyle/>
          <a:p>
            <a:pPr eaLnBrk="1" hangingPunct="1"/>
            <a:r>
              <a:rPr kumimoji="0" lang="ru-RU" altLang="ru-RU" sz="2700" dirty="0" smtClean="0">
                <a:latin typeface="PermianSerifTypeface" panose="02000000000000000000" pitchFamily="50" charset="0"/>
                <a:ea typeface="Arial" panose="020B0604020202020204" pitchFamily="34" charset="0"/>
              </a:rPr>
              <a:t>Интересное</a:t>
            </a:r>
            <a:endParaRPr kumimoji="0" lang="en-US" altLang="ru-RU" sz="2700" dirty="0">
              <a:latin typeface="PermianSerifTypeface" panose="02000000000000000000" pitchFamily="50" charset="0"/>
              <a:ea typeface="Arial" panose="020B060402020202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l="7569" t="33272" r="18056" b="18333"/>
          <a:stretch/>
        </p:blipFill>
        <p:spPr>
          <a:xfrm>
            <a:off x="292100" y="592138"/>
            <a:ext cx="8405813" cy="447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64806" y="222806"/>
            <a:ext cx="3746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Плохая </a:t>
            </a:r>
            <a:r>
              <a:rPr lang="ru-RU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кластеризуемость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СМС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22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032768A-17D0-45EF-B5F1-2E4F3BF4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88" y="-176213"/>
            <a:ext cx="8543925" cy="768351"/>
          </a:xfrm>
        </p:spPr>
        <p:txBody>
          <a:bodyPr>
            <a:normAutofit/>
          </a:bodyPr>
          <a:lstStyle/>
          <a:p>
            <a:pPr eaLnBrk="1" hangingPunct="1"/>
            <a:r>
              <a:rPr kumimoji="0" lang="ru-RU" altLang="ru-RU" sz="2700" dirty="0" smtClean="0">
                <a:latin typeface="PermianSerifTypeface" panose="02000000000000000000" pitchFamily="50" charset="0"/>
                <a:ea typeface="Arial" panose="020B0604020202020204" pitchFamily="34" charset="0"/>
              </a:rPr>
              <a:t>Интересное</a:t>
            </a:r>
            <a:endParaRPr kumimoji="0" lang="en-US" altLang="ru-RU" sz="2700" dirty="0">
              <a:latin typeface="PermianSerifTypeface" panose="02000000000000000000" pitchFamily="50" charset="0"/>
              <a:ea typeface="Arial" panose="020B06040202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22847" t="24753" r="1528" b="25123"/>
          <a:stretch/>
        </p:blipFill>
        <p:spPr>
          <a:xfrm>
            <a:off x="153988" y="592138"/>
            <a:ext cx="8543925" cy="44624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46600" y="207962"/>
            <a:ext cx="3155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Кластеризуемость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E-mail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901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l="22778" t="29568" r="52500" b="31173"/>
          <a:stretch/>
        </p:blipFill>
        <p:spPr>
          <a:xfrm>
            <a:off x="152400" y="0"/>
            <a:ext cx="3759200" cy="403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9034" y="4322762"/>
            <a:ext cx="1843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набора СМС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69634" y="4321690"/>
            <a:ext cx="1972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набора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E-mail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/>
          <a:srcRect l="22778" t="25741" r="51945" b="35000"/>
          <a:stretch/>
        </p:blipFill>
        <p:spPr>
          <a:xfrm>
            <a:off x="5524500" y="0"/>
            <a:ext cx="36195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151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l="22778" t="35741" r="2916" b="16234"/>
          <a:stretch/>
        </p:blipFill>
        <p:spPr>
          <a:xfrm>
            <a:off x="190500" y="0"/>
            <a:ext cx="8953500" cy="4165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5469" y="4191000"/>
            <a:ext cx="7978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Слова, важные для лучшей модели (для СМС; в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e-mail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менее наглядно)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31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l="21945" t="47963" r="19167" b="19445"/>
          <a:stretch/>
        </p:blipFill>
        <p:spPr>
          <a:xfrm>
            <a:off x="596900" y="114300"/>
            <a:ext cx="8547100" cy="4203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14584" y="4356100"/>
            <a:ext cx="65294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СМС-сообщений, на которых ошиблась модель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6511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9400" y="1676400"/>
            <a:ext cx="8572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Модели, обученные на одном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датасете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плохо работают на другом, несмотря на кажущееся сходство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датасетов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/>
          <a:srcRect l="21875" t="38457" r="27500" b="53271"/>
          <a:stretch/>
        </p:blipFill>
        <p:spPr>
          <a:xfrm>
            <a:off x="279400" y="139700"/>
            <a:ext cx="8216900" cy="153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624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032768A-17D0-45EF-B5F1-2E4F3BF4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88" y="-277813"/>
            <a:ext cx="8543925" cy="768351"/>
          </a:xfrm>
        </p:spPr>
        <p:txBody>
          <a:bodyPr>
            <a:normAutofit/>
          </a:bodyPr>
          <a:lstStyle/>
          <a:p>
            <a:pPr eaLnBrk="1" hangingPunct="1"/>
            <a:r>
              <a:rPr kumimoji="0" lang="ru-RU" altLang="ru-RU" sz="2700" dirty="0" smtClean="0">
                <a:latin typeface="PermianSerifTypeface" panose="02000000000000000000" pitchFamily="50" charset="0"/>
                <a:ea typeface="Arial" panose="020B0604020202020204" pitchFamily="34" charset="0"/>
              </a:rPr>
              <a:t>Выводы, результат</a:t>
            </a:r>
            <a:endParaRPr kumimoji="0" lang="en-US" altLang="ru-RU" sz="2700" dirty="0">
              <a:latin typeface="PermianSerifTypeface" panose="02000000000000000000" pitchFamily="50" charset="0"/>
              <a:ea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3988" y="401638"/>
            <a:ext cx="899001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распознавания SMS-спама достаточно хорошо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решаема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стандартными методами NLP и машинного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обучения.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этой работе лучшей оказалась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наивная байесовская с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Vectorizer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совместно с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удалением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стоп-слов.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спам-фильтра особенно важно смотреть на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F1-score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классу `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`, потому что они лучше отражают практическое качество, чем одна только `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`.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Балансировка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классов помогает повысить полноту по спаму у линейных моделей, но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снижает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точность, то есть создаёт больше ложных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тревог.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интерпретируемы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она путается там, где обычное сообщение похоже на рекламный текст или где спам замаскирован под нейтральную переписку.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кластеризацией показывает, что структура в текстах есть, и деление на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классы без учителя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возможно,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однако они не совпадают с нужными; для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фильтрации спама классификация с обучением с учителем работает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лучше.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тренированные на разных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датасетах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выдают плохие метрики при предсказании другого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Это должно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учиываться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создании универсальных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блокировщиков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спама.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307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5">
            <a:extLst>
              <a:ext uri="{FF2B5EF4-FFF2-40B4-BE49-F238E27FC236}">
                <a16:creationId xmlns:a16="http://schemas.microsoft.com/office/drawing/2014/main" id="{DB556E04-610B-47E0-A36D-CE18CA7ECCA2}"/>
              </a:ext>
            </a:extLst>
          </p:cNvPr>
          <p:cNvSpPr txBox="1"/>
          <p:nvPr/>
        </p:nvSpPr>
        <p:spPr>
          <a:xfrm>
            <a:off x="2941585" y="2110085"/>
            <a:ext cx="3400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>
                <a:solidFill>
                  <a:schemeClr val="accent1"/>
                </a:solidFill>
                <a:latin typeface="PermianSerifTypeface" panose="02000000000000000000" pitchFamily="50" charset="0"/>
              </a:rPr>
              <a:t>С</a:t>
            </a:r>
            <a:r>
              <a:rPr lang="ru-RU" sz="2400" b="1" dirty="0" smtClean="0">
                <a:solidFill>
                  <a:schemeClr val="accent2"/>
                </a:solidFill>
                <a:latin typeface="PermianSerifTypeface" panose="02000000000000000000" pitchFamily="50" charset="0"/>
              </a:rPr>
              <a:t>п</a:t>
            </a:r>
            <a:r>
              <a:rPr lang="ru-RU" sz="2400" b="1" dirty="0" smtClean="0">
                <a:solidFill>
                  <a:schemeClr val="accent4"/>
                </a:solidFill>
                <a:latin typeface="PermianSerifTypeface" panose="02000000000000000000" pitchFamily="50" charset="0"/>
              </a:rPr>
              <a:t>а</a:t>
            </a:r>
            <a:r>
              <a:rPr lang="ru-RU" sz="2400" b="1" dirty="0" smtClean="0">
                <a:solidFill>
                  <a:schemeClr val="accent6"/>
                </a:solidFill>
                <a:latin typeface="PermianSerifTypeface" panose="02000000000000000000" pitchFamily="50" charset="0"/>
              </a:rPr>
              <a:t>с</a:t>
            </a:r>
            <a:r>
              <a:rPr lang="ru-RU" sz="24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PermianSerifTypeface" panose="02000000000000000000" pitchFamily="50" charset="0"/>
              </a:rPr>
              <a:t>и</a:t>
            </a:r>
            <a:r>
              <a:rPr lang="ru-RU" sz="2400" b="1" dirty="0" smtClean="0">
                <a:solidFill>
                  <a:srgbClr val="00B0F0"/>
                </a:solidFill>
                <a:latin typeface="PermianSerifTypeface" panose="02000000000000000000" pitchFamily="50" charset="0"/>
              </a:rPr>
              <a:t>б</a:t>
            </a:r>
            <a:r>
              <a:rPr lang="ru-RU" sz="2400" b="1" dirty="0" smtClean="0">
                <a:solidFill>
                  <a:srgbClr val="925AA6"/>
                </a:solidFill>
                <a:latin typeface="PermianSerifTypeface" panose="02000000000000000000" pitchFamily="50" charset="0"/>
              </a:rPr>
              <a:t>о</a:t>
            </a:r>
            <a:r>
              <a:rPr lang="en-US" sz="2400" b="1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 </a:t>
            </a:r>
            <a:r>
              <a:rPr lang="ru-RU" sz="24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PermianSerifTypeface" panose="02000000000000000000" pitchFamily="50" charset="0"/>
              </a:rPr>
              <a:t>з</a:t>
            </a:r>
            <a:r>
              <a:rPr lang="ru-RU" sz="2400" b="1" dirty="0" smtClean="0">
                <a:solidFill>
                  <a:srgbClr val="92D050"/>
                </a:solidFill>
                <a:latin typeface="PermianSerifTypeface" panose="02000000000000000000" pitchFamily="50" charset="0"/>
              </a:rPr>
              <a:t>а</a:t>
            </a:r>
            <a:r>
              <a:rPr lang="ru-RU" sz="2400" b="1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 </a:t>
            </a:r>
            <a:r>
              <a:rPr lang="ru-RU" sz="2400" b="1" dirty="0" smtClean="0">
                <a:solidFill>
                  <a:schemeClr val="accent4"/>
                </a:solidFill>
                <a:latin typeface="PermianSerifTypeface" panose="02000000000000000000" pitchFamily="50" charset="0"/>
              </a:rPr>
              <a:t>в</a:t>
            </a:r>
            <a:r>
              <a:rPr lang="ru-RU" sz="2400" b="1" dirty="0" smtClean="0">
                <a:solidFill>
                  <a:schemeClr val="accent2"/>
                </a:solidFill>
                <a:latin typeface="PermianSerifTypeface" panose="02000000000000000000" pitchFamily="50" charset="0"/>
              </a:rPr>
              <a:t>н</a:t>
            </a:r>
            <a:r>
              <a:rPr lang="ru-RU" sz="2400" b="1" dirty="0" smtClean="0">
                <a:solidFill>
                  <a:srgbClr val="910829"/>
                </a:solidFill>
                <a:latin typeface="PermianSerifTypeface" panose="02000000000000000000" pitchFamily="50" charset="0"/>
              </a:rPr>
              <a:t>и</a:t>
            </a:r>
            <a:r>
              <a:rPr lang="ru-RU" sz="2400" b="1" dirty="0" smtClean="0">
                <a:solidFill>
                  <a:schemeClr val="accent2"/>
                </a:solidFill>
                <a:latin typeface="PermianSerifTypeface" panose="02000000000000000000" pitchFamily="50" charset="0"/>
              </a:rPr>
              <a:t>м</a:t>
            </a:r>
            <a:r>
              <a:rPr lang="ru-RU" sz="2400" b="1" dirty="0" smtClean="0">
                <a:solidFill>
                  <a:srgbClr val="FFFF00"/>
                </a:solidFill>
                <a:latin typeface="PermianSerifTypeface" panose="02000000000000000000" pitchFamily="50" charset="0"/>
              </a:rPr>
              <a:t>а</a:t>
            </a:r>
            <a:r>
              <a:rPr lang="ru-RU" sz="2400" b="1" dirty="0" smtClean="0">
                <a:solidFill>
                  <a:srgbClr val="92D050"/>
                </a:solidFill>
                <a:latin typeface="PermianSerifTypeface" panose="02000000000000000000" pitchFamily="50" charset="0"/>
              </a:rPr>
              <a:t>н</a:t>
            </a:r>
            <a:r>
              <a:rPr lang="ru-RU" sz="24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PermianSerifTypeface" panose="02000000000000000000" pitchFamily="50" charset="0"/>
              </a:rPr>
              <a:t>и</a:t>
            </a:r>
            <a:r>
              <a:rPr lang="ru-RU" sz="2400" b="1" dirty="0" smtClean="0">
                <a:solidFill>
                  <a:srgbClr val="00B0F0"/>
                </a:solidFill>
                <a:latin typeface="PermianSerifTypeface" panose="02000000000000000000" pitchFamily="50" charset="0"/>
              </a:rPr>
              <a:t>е</a:t>
            </a:r>
            <a:r>
              <a:rPr lang="ru-RU" sz="2400" b="1" dirty="0">
                <a:solidFill>
                  <a:srgbClr val="C00000"/>
                </a:solidFill>
                <a:latin typeface="PermianSerifTypeface" panose="02000000000000000000" pitchFamily="50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141797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Другая 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10829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897</TotalTime>
  <Words>639</Words>
  <Application>Microsoft Office PowerPoint</Application>
  <PresentationFormat>Экран (16:9)</PresentationFormat>
  <Paragraphs>100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PermianSerifTypeface</vt:lpstr>
      <vt:lpstr>Times New Roman</vt:lpstr>
      <vt:lpstr>Office Theme</vt:lpstr>
      <vt:lpstr>Выполнили: студенты 4 курса физико-математического института группы РФЗ-2-2022 Воронова Алиса Швецова Анастасия Грибушенков Михаил</vt:lpstr>
      <vt:lpstr>Введение</vt:lpstr>
      <vt:lpstr>Постановка задачи</vt:lpstr>
      <vt:lpstr>Выбор наборов данных</vt:lpstr>
      <vt:lpstr>Предобработка данных</vt:lpstr>
      <vt:lpstr>Презентация PowerPoint</vt:lpstr>
      <vt:lpstr>Презентация PowerPoint</vt:lpstr>
      <vt:lpstr>Предобработка данных</vt:lpstr>
      <vt:lpstr>Предобработка данных</vt:lpstr>
      <vt:lpstr>Презентация PowerPoint</vt:lpstr>
      <vt:lpstr>Презентация PowerPoint</vt:lpstr>
      <vt:lpstr>Презентация PowerPoint</vt:lpstr>
      <vt:lpstr>Выбор моделей</vt:lpstr>
      <vt:lpstr>Метрики</vt:lpstr>
      <vt:lpstr>Метрики</vt:lpstr>
      <vt:lpstr>Интересное</vt:lpstr>
      <vt:lpstr>Интересное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Выводы, результат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Селетков Илья Павлович  Кафедра радиоэлектроники и защиты информации</dc:title>
  <dc:creator>iseletkov</dc:creator>
  <cp:lastModifiedBy>Misha</cp:lastModifiedBy>
  <cp:revision>92</cp:revision>
  <dcterms:created xsi:type="dcterms:W3CDTF">2022-02-21T04:35:07Z</dcterms:created>
  <dcterms:modified xsi:type="dcterms:W3CDTF">2026-04-30T00:32:49Z</dcterms:modified>
</cp:coreProperties>
</file>